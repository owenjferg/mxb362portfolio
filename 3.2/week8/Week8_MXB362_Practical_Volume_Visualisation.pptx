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75" r:id="rId5"/>
    <p:sldId id="267" r:id="rId6"/>
    <p:sldId id="276" r:id="rId7"/>
    <p:sldId id="277" r:id="rId8"/>
    <p:sldId id="278" r:id="rId9"/>
    <p:sldId id="279" r:id="rId10"/>
    <p:sldId id="283" r:id="rId11"/>
    <p:sldId id="284" r:id="rId12"/>
    <p:sldId id="29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4372"/>
    <a:srgbClr val="00061A"/>
    <a:srgbClr val="03255B"/>
    <a:srgbClr val="093779"/>
    <a:srgbClr val="062B63"/>
    <a:srgbClr val="0C488E"/>
    <a:srgbClr val="00285F"/>
    <a:srgbClr val="0006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45" autoAdjust="0"/>
    <p:restoredTop sz="96327"/>
  </p:normalViewPr>
  <p:slideViewPr>
    <p:cSldViewPr snapToGrid="0" showGuides="1">
      <p:cViewPr varScale="1">
        <p:scale>
          <a:sx n="102" d="100"/>
          <a:sy n="102" d="100"/>
        </p:scale>
        <p:origin x="768"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e Sharp" userId="4368e1a6-2bdf-4552-964d-574d8c8876e1" providerId="ADAL" clId="{D6293FCE-2396-43A5-9AF8-D66B48C11B45}"/>
    <pc:docChg chg="custSel delSld modMainMaster">
      <pc:chgData name="Jesse Sharp" userId="4368e1a6-2bdf-4552-964d-574d8c8876e1" providerId="ADAL" clId="{D6293FCE-2396-43A5-9AF8-D66B48C11B45}" dt="2023-06-23T00:40:26.982" v="187" actId="20577"/>
      <pc:docMkLst>
        <pc:docMk/>
      </pc:docMkLst>
      <pc:sldChg chg="del">
        <pc:chgData name="Jesse Sharp" userId="4368e1a6-2bdf-4552-964d-574d8c8876e1" providerId="ADAL" clId="{D6293FCE-2396-43A5-9AF8-D66B48C11B45}" dt="2023-06-23T00:36:25.560" v="1" actId="47"/>
        <pc:sldMkLst>
          <pc:docMk/>
          <pc:sldMk cId="3900383165" sldId="261"/>
        </pc:sldMkLst>
      </pc:sldChg>
      <pc:sldChg chg="del">
        <pc:chgData name="Jesse Sharp" userId="4368e1a6-2bdf-4552-964d-574d8c8876e1" providerId="ADAL" clId="{D6293FCE-2396-43A5-9AF8-D66B48C11B45}" dt="2023-06-23T00:36:26.463" v="2" actId="47"/>
        <pc:sldMkLst>
          <pc:docMk/>
          <pc:sldMk cId="2457519024" sldId="262"/>
        </pc:sldMkLst>
      </pc:sldChg>
      <pc:sldChg chg="del">
        <pc:chgData name="Jesse Sharp" userId="4368e1a6-2bdf-4552-964d-574d8c8876e1" providerId="ADAL" clId="{D6293FCE-2396-43A5-9AF8-D66B48C11B45}" dt="2023-06-23T00:36:28.064" v="3" actId="47"/>
        <pc:sldMkLst>
          <pc:docMk/>
          <pc:sldMk cId="3873784629" sldId="263"/>
        </pc:sldMkLst>
      </pc:sldChg>
      <pc:sldChg chg="del">
        <pc:chgData name="Jesse Sharp" userId="4368e1a6-2bdf-4552-964d-574d8c8876e1" providerId="ADAL" clId="{D6293FCE-2396-43A5-9AF8-D66B48C11B45}" dt="2023-06-23T00:36:29.727" v="5" actId="47"/>
        <pc:sldMkLst>
          <pc:docMk/>
          <pc:sldMk cId="4259112089" sldId="266"/>
        </pc:sldMkLst>
      </pc:sldChg>
      <pc:sldChg chg="del">
        <pc:chgData name="Jesse Sharp" userId="4368e1a6-2bdf-4552-964d-574d8c8876e1" providerId="ADAL" clId="{D6293FCE-2396-43A5-9AF8-D66B48C11B45}" dt="2023-06-23T00:36:43.041" v="6" actId="47"/>
        <pc:sldMkLst>
          <pc:docMk/>
          <pc:sldMk cId="4144779406" sldId="270"/>
        </pc:sldMkLst>
      </pc:sldChg>
      <pc:sldChg chg="del">
        <pc:chgData name="Jesse Sharp" userId="4368e1a6-2bdf-4552-964d-574d8c8876e1" providerId="ADAL" clId="{D6293FCE-2396-43A5-9AF8-D66B48C11B45}" dt="2023-06-23T00:36:44.017" v="7" actId="47"/>
        <pc:sldMkLst>
          <pc:docMk/>
          <pc:sldMk cId="2358676740" sldId="271"/>
        </pc:sldMkLst>
      </pc:sldChg>
      <pc:sldChg chg="del">
        <pc:chgData name="Jesse Sharp" userId="4368e1a6-2bdf-4552-964d-574d8c8876e1" providerId="ADAL" clId="{D6293FCE-2396-43A5-9AF8-D66B48C11B45}" dt="2023-06-23T00:36:59.753" v="11" actId="47"/>
        <pc:sldMkLst>
          <pc:docMk/>
          <pc:sldMk cId="3710931420" sldId="272"/>
        </pc:sldMkLst>
      </pc:sldChg>
      <pc:sldChg chg="del">
        <pc:chgData name="Jesse Sharp" userId="4368e1a6-2bdf-4552-964d-574d8c8876e1" providerId="ADAL" clId="{D6293FCE-2396-43A5-9AF8-D66B48C11B45}" dt="2023-06-23T00:36:28.848" v="4" actId="47"/>
        <pc:sldMkLst>
          <pc:docMk/>
          <pc:sldMk cId="3385018330" sldId="273"/>
        </pc:sldMkLst>
      </pc:sldChg>
      <pc:sldChg chg="del">
        <pc:chgData name="Jesse Sharp" userId="4368e1a6-2bdf-4552-964d-574d8c8876e1" providerId="ADAL" clId="{D6293FCE-2396-43A5-9AF8-D66B48C11B45}" dt="2023-06-23T00:36:24.694" v="0" actId="47"/>
        <pc:sldMkLst>
          <pc:docMk/>
          <pc:sldMk cId="1104084031" sldId="274"/>
        </pc:sldMkLst>
      </pc:sldChg>
      <pc:sldChg chg="del">
        <pc:chgData name="Jesse Sharp" userId="4368e1a6-2bdf-4552-964d-574d8c8876e1" providerId="ADAL" clId="{D6293FCE-2396-43A5-9AF8-D66B48C11B45}" dt="2023-06-23T00:36:51.163" v="8" actId="47"/>
        <pc:sldMkLst>
          <pc:docMk/>
          <pc:sldMk cId="877292247" sldId="276"/>
        </pc:sldMkLst>
      </pc:sldChg>
      <pc:sldChg chg="del">
        <pc:chgData name="Jesse Sharp" userId="4368e1a6-2bdf-4552-964d-574d8c8876e1" providerId="ADAL" clId="{D6293FCE-2396-43A5-9AF8-D66B48C11B45}" dt="2023-06-23T00:36:52.271" v="9" actId="47"/>
        <pc:sldMkLst>
          <pc:docMk/>
          <pc:sldMk cId="3884060325" sldId="277"/>
        </pc:sldMkLst>
      </pc:sldChg>
      <pc:sldChg chg="del">
        <pc:chgData name="Jesse Sharp" userId="4368e1a6-2bdf-4552-964d-574d8c8876e1" providerId="ADAL" clId="{D6293FCE-2396-43A5-9AF8-D66B48C11B45}" dt="2023-06-23T00:36:56.281" v="10" actId="47"/>
        <pc:sldMkLst>
          <pc:docMk/>
          <pc:sldMk cId="3156355039" sldId="278"/>
        </pc:sldMkLst>
      </pc:sldChg>
      <pc:sldMasterChg chg="modSp mod modSldLayout">
        <pc:chgData name="Jesse Sharp" userId="4368e1a6-2bdf-4552-964d-574d8c8876e1" providerId="ADAL" clId="{D6293FCE-2396-43A5-9AF8-D66B48C11B45}" dt="2023-06-23T00:40:26.982" v="187" actId="20577"/>
        <pc:sldMasterMkLst>
          <pc:docMk/>
          <pc:sldMasterMk cId="323273975" sldId="2147483648"/>
        </pc:sldMasterMkLst>
        <pc:sldLayoutChg chg="modSp mod">
          <pc:chgData name="Jesse Sharp" userId="4368e1a6-2bdf-4552-964d-574d8c8876e1" providerId="ADAL" clId="{D6293FCE-2396-43A5-9AF8-D66B48C11B45}" dt="2023-06-23T00:40:26.982" v="187" actId="20577"/>
          <pc:sldLayoutMkLst>
            <pc:docMk/>
            <pc:sldMasterMk cId="323273975" sldId="2147483648"/>
            <pc:sldLayoutMk cId="3316132324" sldId="2147483660"/>
          </pc:sldLayoutMkLst>
        </pc:sldLayoutChg>
      </pc:sldMasterChg>
    </pc:docChg>
  </pc:docChgLst>
  <pc:docChgLst>
    <pc:chgData name="Jesse Sharp" userId="4368e1a6-2bdf-4552-964d-574d8c8876e1" providerId="ADAL" clId="{EDDB9B78-05D7-44E4-9446-7247E94D052D}"/>
    <pc:docChg chg="modSld">
      <pc:chgData name="Jesse Sharp" userId="4368e1a6-2bdf-4552-964d-574d8c8876e1" providerId="ADAL" clId="{EDDB9B78-05D7-44E4-9446-7247E94D052D}" dt="2023-08-28T01:07:58.715" v="0" actId="20577"/>
      <pc:docMkLst>
        <pc:docMk/>
      </pc:docMkLst>
      <pc:sldChg chg="modSp mod">
        <pc:chgData name="Jesse Sharp" userId="4368e1a6-2bdf-4552-964d-574d8c8876e1" providerId="ADAL" clId="{EDDB9B78-05D7-44E4-9446-7247E94D052D}" dt="2023-08-28T01:07:58.715" v="0" actId="20577"/>
        <pc:sldMkLst>
          <pc:docMk/>
          <pc:sldMk cId="2812679239" sldId="267"/>
        </pc:sldMkLst>
      </pc:sldChg>
    </pc:docChg>
  </pc:docChgLst>
  <pc:docChgLst>
    <pc:chgData name="Jesse Sharp" userId="4368e1a6-2bdf-4552-964d-574d8c8876e1" providerId="ADAL" clId="{F4BC8558-8DF9-4E01-8825-82AD4A9185B2}"/>
    <pc:docChg chg="undo redo custSel addSld delSld modSld">
      <pc:chgData name="Jesse Sharp" userId="4368e1a6-2bdf-4552-964d-574d8c8876e1" providerId="ADAL" clId="{F4BC8558-8DF9-4E01-8825-82AD4A9185B2}" dt="2023-06-30T06:04:57.061" v="2649" actId="20577"/>
      <pc:docMkLst>
        <pc:docMk/>
      </pc:docMkLst>
      <pc:sldChg chg="addSp delSp modSp mod">
        <pc:chgData name="Jesse Sharp" userId="4368e1a6-2bdf-4552-964d-574d8c8876e1" providerId="ADAL" clId="{F4BC8558-8DF9-4E01-8825-82AD4A9185B2}" dt="2023-06-30T05:04:48.414" v="1692" actId="5793"/>
        <pc:sldMkLst>
          <pc:docMk/>
          <pc:sldMk cId="2812679239" sldId="267"/>
        </pc:sldMkLst>
      </pc:sldChg>
      <pc:sldChg chg="modSp del mod">
        <pc:chgData name="Jesse Sharp" userId="4368e1a6-2bdf-4552-964d-574d8c8876e1" providerId="ADAL" clId="{F4BC8558-8DF9-4E01-8825-82AD4A9185B2}" dt="2023-06-26T23:43:30.916" v="156" actId="47"/>
        <pc:sldMkLst>
          <pc:docMk/>
          <pc:sldMk cId="1133625181" sldId="268"/>
        </pc:sldMkLst>
      </pc:sldChg>
      <pc:sldChg chg="del">
        <pc:chgData name="Jesse Sharp" userId="4368e1a6-2bdf-4552-964d-574d8c8876e1" providerId="ADAL" clId="{F4BC8558-8DF9-4E01-8825-82AD4A9185B2}" dt="2023-06-27T04:24:52.823" v="689" actId="47"/>
        <pc:sldMkLst>
          <pc:docMk/>
          <pc:sldMk cId="1072743655" sldId="269"/>
        </pc:sldMkLst>
      </pc:sldChg>
      <pc:sldChg chg="modSp mod">
        <pc:chgData name="Jesse Sharp" userId="4368e1a6-2bdf-4552-964d-574d8c8876e1" providerId="ADAL" clId="{F4BC8558-8DF9-4E01-8825-82AD4A9185B2}" dt="2023-06-30T06:04:57.061" v="2649" actId="20577"/>
        <pc:sldMkLst>
          <pc:docMk/>
          <pc:sldMk cId="2693289624" sldId="275"/>
        </pc:sldMkLst>
      </pc:sldChg>
      <pc:sldChg chg="addSp modSp add mod">
        <pc:chgData name="Jesse Sharp" userId="4368e1a6-2bdf-4552-964d-574d8c8876e1" providerId="ADAL" clId="{F4BC8558-8DF9-4E01-8825-82AD4A9185B2}" dt="2023-06-30T05:20:39.347" v="1849" actId="20577"/>
        <pc:sldMkLst>
          <pc:docMk/>
          <pc:sldMk cId="223271646" sldId="276"/>
        </pc:sldMkLst>
      </pc:sldChg>
      <pc:sldChg chg="addSp delSp modSp add mod">
        <pc:chgData name="Jesse Sharp" userId="4368e1a6-2bdf-4552-964d-574d8c8876e1" providerId="ADAL" clId="{F4BC8558-8DF9-4E01-8825-82AD4A9185B2}" dt="2023-06-27T00:46:52.812" v="427" actId="478"/>
        <pc:sldMkLst>
          <pc:docMk/>
          <pc:sldMk cId="3362409969" sldId="277"/>
        </pc:sldMkLst>
      </pc:sldChg>
      <pc:sldChg chg="addSp delSp modSp add mod">
        <pc:chgData name="Jesse Sharp" userId="4368e1a6-2bdf-4552-964d-574d8c8876e1" providerId="ADAL" clId="{F4BC8558-8DF9-4E01-8825-82AD4A9185B2}" dt="2023-06-30T05:07:24.230" v="1703" actId="20577"/>
        <pc:sldMkLst>
          <pc:docMk/>
          <pc:sldMk cId="2907458525" sldId="278"/>
        </pc:sldMkLst>
      </pc:sldChg>
      <pc:sldChg chg="addSp delSp modSp add mod">
        <pc:chgData name="Jesse Sharp" userId="4368e1a6-2bdf-4552-964d-574d8c8876e1" providerId="ADAL" clId="{F4BC8558-8DF9-4E01-8825-82AD4A9185B2}" dt="2023-06-26T23:42:30.648" v="152" actId="478"/>
        <pc:sldMkLst>
          <pc:docMk/>
          <pc:sldMk cId="1364943044" sldId="279"/>
        </pc:sldMkLst>
      </pc:sldChg>
      <pc:sldChg chg="addSp delSp modSp add mod">
        <pc:chgData name="Jesse Sharp" userId="4368e1a6-2bdf-4552-964d-574d8c8876e1" providerId="ADAL" clId="{F4BC8558-8DF9-4E01-8825-82AD4A9185B2}" dt="2023-06-30T05:33:31.398" v="2201" actId="14100"/>
        <pc:sldMkLst>
          <pc:docMk/>
          <pc:sldMk cId="2455816952" sldId="280"/>
        </pc:sldMkLst>
      </pc:sldChg>
      <pc:sldChg chg="addSp delSp modSp add mod">
        <pc:chgData name="Jesse Sharp" userId="4368e1a6-2bdf-4552-964d-574d8c8876e1" providerId="ADAL" clId="{F4BC8558-8DF9-4E01-8825-82AD4A9185B2}" dt="2023-06-30T05:39:20.081" v="2285" actId="20577"/>
        <pc:sldMkLst>
          <pc:docMk/>
          <pc:sldMk cId="2322710692" sldId="281"/>
        </pc:sldMkLst>
      </pc:sldChg>
      <pc:sldChg chg="addSp delSp modSp add mod">
        <pc:chgData name="Jesse Sharp" userId="4368e1a6-2bdf-4552-964d-574d8c8876e1" providerId="ADAL" clId="{F4BC8558-8DF9-4E01-8825-82AD4A9185B2}" dt="2023-06-30T05:48:53.495" v="2405" actId="20577"/>
        <pc:sldMkLst>
          <pc:docMk/>
          <pc:sldMk cId="995737443" sldId="282"/>
        </pc:sldMkLst>
      </pc:sldChg>
      <pc:sldChg chg="addSp delSp modSp add del mod">
        <pc:chgData name="Jesse Sharp" userId="4368e1a6-2bdf-4552-964d-574d8c8876e1" providerId="ADAL" clId="{F4BC8558-8DF9-4E01-8825-82AD4A9185B2}" dt="2023-06-30T06:03:19.563" v="2635" actId="27636"/>
        <pc:sldMkLst>
          <pc:docMk/>
          <pc:sldMk cId="322146402" sldId="283"/>
        </pc:sldMkLst>
      </pc:sldChg>
      <pc:sldChg chg="addSp modSp add mod">
        <pc:chgData name="Jesse Sharp" userId="4368e1a6-2bdf-4552-964d-574d8c8876e1" providerId="ADAL" clId="{F4BC8558-8DF9-4E01-8825-82AD4A9185B2}" dt="2023-06-30T05:31:12.964" v="2178" actId="20577"/>
        <pc:sldMkLst>
          <pc:docMk/>
          <pc:sldMk cId="1580551761" sldId="284"/>
        </pc:sldMkLst>
      </pc:sldChg>
      <pc:sldChg chg="modSp add mod">
        <pc:chgData name="Jesse Sharp" userId="4368e1a6-2bdf-4552-964d-574d8c8876e1" providerId="ADAL" clId="{F4BC8558-8DF9-4E01-8825-82AD4A9185B2}" dt="2023-06-30T06:03:53.431" v="2636" actId="6549"/>
        <pc:sldMkLst>
          <pc:docMk/>
          <pc:sldMk cId="498422975" sldId="290"/>
        </pc:sldMkLst>
      </pc:sldChg>
    </pc:docChg>
  </pc:docChgLst>
  <pc:docChgLst>
    <pc:chgData name="Riley Whebell" userId="77edcaf0-76e9-4161-b289-8f8b4a0c02f2" providerId="ADAL" clId="{94A6BC67-8DE1-4400-B1E9-6FD034F3A4D0}"/>
    <pc:docChg chg="custSel modSld">
      <pc:chgData name="Riley Whebell" userId="77edcaf0-76e9-4161-b289-8f8b4a0c02f2" providerId="ADAL" clId="{94A6BC67-8DE1-4400-B1E9-6FD034F3A4D0}" dt="2024-09-04T00:42:00.993" v="29" actId="27636"/>
      <pc:docMkLst>
        <pc:docMk/>
      </pc:docMkLst>
      <pc:sldChg chg="modSp mod">
        <pc:chgData name="Riley Whebell" userId="77edcaf0-76e9-4161-b289-8f8b4a0c02f2" providerId="ADAL" clId="{94A6BC67-8DE1-4400-B1E9-6FD034F3A4D0}" dt="2024-09-04T00:42:00.993" v="29" actId="27636"/>
        <pc:sldMkLst>
          <pc:docMk/>
          <pc:sldMk cId="1580551761" sldId="284"/>
        </pc:sldMkLst>
      </pc:sldChg>
    </pc:docChg>
  </pc:docChgLst>
  <pc:docChgLst>
    <pc:chgData name="Riley Whebell" userId="77edcaf0-76e9-4161-b289-8f8b4a0c02f2" providerId="ADAL" clId="{4119A18C-6B2C-49D9-8A60-02D565A32E11}"/>
    <pc:docChg chg="custSel modSld">
      <pc:chgData name="Riley Whebell" userId="77edcaf0-76e9-4161-b289-8f8b4a0c02f2" providerId="ADAL" clId="{4119A18C-6B2C-49D9-8A60-02D565A32E11}" dt="2024-10-20T23:14:27.999" v="12" actId="2711"/>
      <pc:docMkLst>
        <pc:docMk/>
      </pc:docMkLst>
      <pc:sldChg chg="modSp mod">
        <pc:chgData name="Riley Whebell" userId="77edcaf0-76e9-4161-b289-8f8b4a0c02f2" providerId="ADAL" clId="{4119A18C-6B2C-49D9-8A60-02D565A32E11}" dt="2024-10-20T23:14:27.999" v="12" actId="2711"/>
        <pc:sldMkLst>
          <pc:docMk/>
          <pc:sldMk cId="1580551761" sldId="284"/>
        </pc:sldMkLst>
      </pc:sldChg>
    </pc:docChg>
  </pc:docChgLst>
  <pc:docChgLst>
    <pc:chgData name="Jesse Sharp" userId="4368e1a6-2bdf-4552-964d-574d8c8876e1" providerId="ADAL" clId="{47455559-181B-485F-ABA6-A715CAC75387}"/>
    <pc:docChg chg="modSld">
      <pc:chgData name="Jesse Sharp" userId="4368e1a6-2bdf-4552-964d-574d8c8876e1" providerId="ADAL" clId="{47455559-181B-485F-ABA6-A715CAC75387}" dt="2023-07-14T00:34:06.076" v="2" actId="20577"/>
      <pc:docMkLst>
        <pc:docMk/>
      </pc:docMkLst>
      <pc:sldChg chg="modSp mod">
        <pc:chgData name="Jesse Sharp" userId="4368e1a6-2bdf-4552-964d-574d8c8876e1" providerId="ADAL" clId="{47455559-181B-485F-ABA6-A715CAC75387}" dt="2023-07-14T00:34:06.076" v="2" actId="20577"/>
        <pc:sldMkLst>
          <pc:docMk/>
          <pc:sldMk cId="322146402" sldId="28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3E049B-39F8-44D4-9B8F-42AD3D16F7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3BBCFE28-325F-4C3C-8F0D-A0AE517A97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71F9AD-7D37-4888-8B9B-781FD21B16BF}" type="datetimeFigureOut">
              <a:rPr lang="en-AU" smtClean="0"/>
              <a:t>9/07/2025</a:t>
            </a:fld>
            <a:endParaRPr lang="en-AU"/>
          </a:p>
        </p:txBody>
      </p:sp>
      <p:sp>
        <p:nvSpPr>
          <p:cNvPr id="4" name="Footer Placeholder 3">
            <a:extLst>
              <a:ext uri="{FF2B5EF4-FFF2-40B4-BE49-F238E27FC236}">
                <a16:creationId xmlns:a16="http://schemas.microsoft.com/office/drawing/2014/main" id="{4C8CE3B7-0672-4B57-9D30-D10D7E5C511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CCBF396D-B88A-41A2-AA38-FD006DE099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AFDE8F-C651-4379-A3B3-52F461E28252}" type="slidenum">
              <a:rPr lang="en-AU" smtClean="0"/>
              <a:t>‹#›</a:t>
            </a:fld>
            <a:endParaRPr lang="en-AU"/>
          </a:p>
        </p:txBody>
      </p:sp>
    </p:spTree>
    <p:extLst>
      <p:ext uri="{BB962C8B-B14F-4D97-AF65-F5344CB8AC3E}">
        <p14:creationId xmlns:p14="http://schemas.microsoft.com/office/powerpoint/2010/main" val="1343053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59A025-9A62-48B8-80D3-02C5887C5AA6}" type="datetimeFigureOut">
              <a:rPr lang="en-AU" smtClean="0"/>
              <a:t>9/07/2025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AED44F-8DE0-4245-B02B-CC95FDAC3EA9}" type="slidenum">
              <a:rPr lang="en-AU" smtClean="0"/>
              <a:t>‹#›</a:t>
            </a:fld>
            <a:endParaRPr lang="en-AU"/>
          </a:p>
        </p:txBody>
      </p:sp>
    </p:spTree>
    <p:extLst>
      <p:ext uri="{BB962C8B-B14F-4D97-AF65-F5344CB8AC3E}">
        <p14:creationId xmlns:p14="http://schemas.microsoft.com/office/powerpoint/2010/main" val="1055935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A">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E63BC3E-8BC0-9941-844D-C5B29BBD726A}"/>
              </a:ext>
              <a:ext uri="{C183D7F6-B498-43B3-948B-1728B52AA6E4}">
                <adec:decorative xmlns:adec="http://schemas.microsoft.com/office/drawing/2017/decorative" val="1"/>
              </a:ext>
            </a:extLst>
          </p:cNvPr>
          <p:cNvSpPr/>
          <p:nvPr userDrawn="1"/>
        </p:nvSpPr>
        <p:spPr>
          <a:xfrm>
            <a:off x="0" y="0"/>
            <a:ext cx="12224569" cy="6858000"/>
          </a:xfrm>
          <a:prstGeom prst="rect">
            <a:avLst/>
          </a:prstGeom>
          <a:gradFill flip="none" rotWithShape="1">
            <a:gsLst>
              <a:gs pos="0">
                <a:srgbClr val="0C488E"/>
              </a:gs>
              <a:gs pos="83000">
                <a:srgbClr val="00061A"/>
              </a:gs>
              <a:gs pos="0">
                <a:srgbClr val="0F4372"/>
              </a:gs>
              <a:gs pos="34000">
                <a:srgbClr val="0F4372"/>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Text Placeholder 7">
            <a:extLst>
              <a:ext uri="{FF2B5EF4-FFF2-40B4-BE49-F238E27FC236}">
                <a16:creationId xmlns:a16="http://schemas.microsoft.com/office/drawing/2014/main" id="{7EDA747F-1CB7-F54E-B0A8-CA3CBC597EA1}"/>
              </a:ext>
              <a:ext uri="{C183D7F6-B498-43B3-948B-1728B52AA6E4}">
                <adec:decorative xmlns:adec="http://schemas.microsoft.com/office/drawing/2017/decorative" val="1"/>
              </a:ext>
            </a:extLst>
          </p:cNvPr>
          <p:cNvSpPr>
            <a:spLocks noGrp="1"/>
          </p:cNvSpPr>
          <p:nvPr>
            <p:ph type="body" sz="quarter" idx="10" hasCustomPrompt="1"/>
          </p:nvPr>
        </p:nvSpPr>
        <p:spPr>
          <a:xfrm>
            <a:off x="3929063" y="4833526"/>
            <a:ext cx="7380287" cy="933450"/>
          </a:xfrm>
        </p:spPr>
        <p:txBody>
          <a:bodyPr/>
          <a:lstStyle>
            <a:lvl1pPr algn="r">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School of Mathematical Sciences</a:t>
            </a:r>
          </a:p>
        </p:txBody>
      </p:sp>
      <p:sp>
        <p:nvSpPr>
          <p:cNvPr id="20" name="Subtitle 2">
            <a:extLst>
              <a:ext uri="{FF2B5EF4-FFF2-40B4-BE49-F238E27FC236}">
                <a16:creationId xmlns:a16="http://schemas.microsoft.com/office/drawing/2014/main" id="{935F116C-88D5-0D49-809F-8FE443A5E7CD}"/>
              </a:ext>
              <a:ext uri="{C183D7F6-B498-43B3-948B-1728B52AA6E4}">
                <adec:decorative xmlns:adec="http://schemas.microsoft.com/office/drawing/2017/decorative" val="1"/>
              </a:ext>
            </a:extLst>
          </p:cNvPr>
          <p:cNvSpPr>
            <a:spLocks noGrp="1"/>
          </p:cNvSpPr>
          <p:nvPr>
            <p:ph type="subTitle" idx="1" hasCustomPrompt="1"/>
          </p:nvPr>
        </p:nvSpPr>
        <p:spPr>
          <a:xfrm>
            <a:off x="3929063" y="4468172"/>
            <a:ext cx="7380370" cy="392650"/>
          </a:xfrm>
        </p:spPr>
        <p:txBody>
          <a:bodyPr>
            <a:normAutofit/>
          </a:bodyPr>
          <a:lstStyle>
            <a:lvl1pPr marL="0" indent="0" algn="r">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MXB362 – Advanced </a:t>
            </a:r>
            <a:r>
              <a:rPr lang="en-US" dirty="0" err="1"/>
              <a:t>Visualisation</a:t>
            </a:r>
            <a:r>
              <a:rPr lang="en-US" dirty="0"/>
              <a:t> and Data Science</a:t>
            </a:r>
            <a:endParaRPr lang="en-AU" dirty="0"/>
          </a:p>
        </p:txBody>
      </p:sp>
      <p:sp>
        <p:nvSpPr>
          <p:cNvPr id="21" name="Title 1">
            <a:extLst>
              <a:ext uri="{FF2B5EF4-FFF2-40B4-BE49-F238E27FC236}">
                <a16:creationId xmlns:a16="http://schemas.microsoft.com/office/drawing/2014/main" id="{CF636E63-7117-5041-893C-E7302B4C58AC}"/>
              </a:ext>
              <a:ext uri="{C183D7F6-B498-43B3-948B-1728B52AA6E4}">
                <adec:decorative xmlns:adec="http://schemas.microsoft.com/office/drawing/2017/decorative" val="1"/>
              </a:ext>
            </a:extLst>
          </p:cNvPr>
          <p:cNvSpPr>
            <a:spLocks noGrp="1"/>
          </p:cNvSpPr>
          <p:nvPr>
            <p:ph type="ctrTitle" hasCustomPrompt="1"/>
          </p:nvPr>
        </p:nvSpPr>
        <p:spPr>
          <a:xfrm>
            <a:off x="3929063" y="2481443"/>
            <a:ext cx="7380370" cy="1904842"/>
          </a:xfrm>
        </p:spPr>
        <p:txBody>
          <a:bodyPr anchor="ctr">
            <a:normAutofit/>
          </a:bodyPr>
          <a:lstStyle>
            <a:lvl1pPr algn="r">
              <a:defRPr sz="5400" b="1">
                <a:solidFill>
                  <a:schemeClr val="bg1"/>
                </a:solidFill>
              </a:defRPr>
            </a:lvl1pPr>
          </a:lstStyle>
          <a:p>
            <a:r>
              <a:rPr lang="en-US" dirty="0"/>
              <a:t>Click to edit: Presentation Title</a:t>
            </a:r>
            <a:endParaRPr lang="en-AU" dirty="0"/>
          </a:p>
        </p:txBody>
      </p:sp>
      <p:pic>
        <p:nvPicPr>
          <p:cNvPr id="22" name="Picture 21" descr="Logo - Queensland University of Technology">
            <a:extLst>
              <a:ext uri="{FF2B5EF4-FFF2-40B4-BE49-F238E27FC236}">
                <a16:creationId xmlns:a16="http://schemas.microsoft.com/office/drawing/2014/main" id="{DA91A798-491D-074B-8E2D-C132539F5E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2943" y="503285"/>
            <a:ext cx="1655763" cy="1655763"/>
          </a:xfrm>
          <a:prstGeom prst="rect">
            <a:avLst/>
          </a:prstGeom>
        </p:spPr>
      </p:pic>
    </p:spTree>
    <p:extLst>
      <p:ext uri="{BB962C8B-B14F-4D97-AF65-F5344CB8AC3E}">
        <p14:creationId xmlns:p14="http://schemas.microsoft.com/office/powerpoint/2010/main" val="3316132324"/>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B">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2DCAA9-E406-47F1-A9BE-27E854E6BB57}"/>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a:stretch/>
        </p:blipFill>
        <p:spPr>
          <a:xfrm flipV="1">
            <a:off x="0" y="234"/>
            <a:ext cx="12192000" cy="6857531"/>
          </a:xfrm>
          <a:prstGeom prst="rect">
            <a:avLst/>
          </a:prstGeom>
        </p:spPr>
      </p:pic>
      <p:sp>
        <p:nvSpPr>
          <p:cNvPr id="8" name="Text Placeholder 7">
            <a:extLst>
              <a:ext uri="{FF2B5EF4-FFF2-40B4-BE49-F238E27FC236}">
                <a16:creationId xmlns:a16="http://schemas.microsoft.com/office/drawing/2014/main" id="{74D90552-88DD-4DA4-992A-7250A7A902D8}"/>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14" name="Subtitle 2">
            <a:extLst>
              <a:ext uri="{FF2B5EF4-FFF2-40B4-BE49-F238E27FC236}">
                <a16:creationId xmlns:a16="http://schemas.microsoft.com/office/drawing/2014/main" id="{38852B28-BE93-4587-9CED-815C7F6AB19E}"/>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13" name="Title 1">
            <a:extLst>
              <a:ext uri="{FF2B5EF4-FFF2-40B4-BE49-F238E27FC236}">
                <a16:creationId xmlns:a16="http://schemas.microsoft.com/office/drawing/2014/main" id="{27AC9D05-6B8D-4C45-A52A-EF3F6CE3D462}"/>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171677179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C">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012886-D20F-4F2C-87BD-AA30C135A362}"/>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a:ext>
            </a:extLst>
          </a:blip>
          <a:srcRect/>
          <a:stretch/>
        </p:blipFill>
        <p:spPr>
          <a:xfrm>
            <a:off x="0" y="0"/>
            <a:ext cx="12192000" cy="6858001"/>
          </a:xfrm>
          <a:prstGeom prst="rect">
            <a:avLst/>
          </a:prstGeom>
        </p:spPr>
      </p:pic>
      <p:sp>
        <p:nvSpPr>
          <p:cNvPr id="10" name="Text Placeholder 7">
            <a:extLst>
              <a:ext uri="{FF2B5EF4-FFF2-40B4-BE49-F238E27FC236}">
                <a16:creationId xmlns:a16="http://schemas.microsoft.com/office/drawing/2014/main" id="{7F05BDEE-5B2B-40DE-9598-EC6DAA4C8079}"/>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76E70064-B817-42D9-83A5-81B9B37631A9}"/>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D427DC83-3791-4348-8D31-9DC78A111BB3}"/>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1289568812"/>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77EB0A-FD63-4491-8E9A-A41B15A13E4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l="7635" t="10269" r="2641" b="6"/>
          <a:stretch/>
        </p:blipFill>
        <p:spPr>
          <a:xfrm>
            <a:off x="-1" y="1"/>
            <a:ext cx="12192001" cy="6858000"/>
          </a:xfrm>
          <a:prstGeom prst="rect">
            <a:avLst/>
          </a:prstGeom>
        </p:spPr>
      </p:pic>
      <p:sp>
        <p:nvSpPr>
          <p:cNvPr id="10" name="Text Placeholder 7">
            <a:extLst>
              <a:ext uri="{FF2B5EF4-FFF2-40B4-BE49-F238E27FC236}">
                <a16:creationId xmlns:a16="http://schemas.microsoft.com/office/drawing/2014/main" id="{141F6C71-6539-411D-B9F4-970D4FA64873}"/>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4F34A4F6-0043-4B71-B53D-168738877617}"/>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61B0F8D3-1A5D-4A55-95F5-BD6A49BF3899}"/>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65470105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D3648EB6-3C0F-47AC-998B-1F86FA64CEED}"/>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66469" y="503285"/>
            <a:ext cx="1655763" cy="1655763"/>
          </a:xfrm>
          <a:prstGeom prst="rect">
            <a:avLst/>
          </a:prstGeom>
        </p:spPr>
      </p:pic>
    </p:spTree>
    <p:extLst>
      <p:ext uri="{BB962C8B-B14F-4D97-AF65-F5344CB8AC3E}">
        <p14:creationId xmlns:p14="http://schemas.microsoft.com/office/powerpoint/2010/main" val="854959397"/>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F">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D3648EB6-3C0F-47AC-998B-1F86FA64CEED}"/>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66469" y="503285"/>
            <a:ext cx="1655763" cy="1655763"/>
          </a:xfrm>
          <a:prstGeom prst="rect">
            <a:avLst/>
          </a:prstGeom>
        </p:spPr>
      </p:pic>
    </p:spTree>
    <p:extLst>
      <p:ext uri="{BB962C8B-B14F-4D97-AF65-F5344CB8AC3E}">
        <p14:creationId xmlns:p14="http://schemas.microsoft.com/office/powerpoint/2010/main" val="1418349408"/>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cknowledgement of Traditional Owner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69B65F8-F29C-4687-97B1-132017B0CAD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087980"/>
          </a:xfrm>
          <a:prstGeom prst="rect">
            <a:avLst/>
          </a:prstGeom>
        </p:spPr>
      </p:pic>
      <p:sp>
        <p:nvSpPr>
          <p:cNvPr id="10" name="TextBox 9">
            <a:extLst>
              <a:ext uri="{FF2B5EF4-FFF2-40B4-BE49-F238E27FC236}">
                <a16:creationId xmlns:a16="http://schemas.microsoft.com/office/drawing/2014/main" id="{47C840F1-E6C3-4979-8FDB-27FC3DA3D710}"/>
              </a:ext>
              <a:ext uri="{C183D7F6-B498-43B3-948B-1728B52AA6E4}">
                <adec:decorative xmlns:adec="http://schemas.microsoft.com/office/drawing/2017/decorative" val="1"/>
              </a:ext>
            </a:extLst>
          </p:cNvPr>
          <p:cNvSpPr txBox="1"/>
          <p:nvPr userDrawn="1"/>
        </p:nvSpPr>
        <p:spPr>
          <a:xfrm>
            <a:off x="3179702" y="3103031"/>
            <a:ext cx="5964654" cy="2339102"/>
          </a:xfrm>
          <a:prstGeom prst="rect">
            <a:avLst/>
          </a:prstGeom>
          <a:noFill/>
        </p:spPr>
        <p:txBody>
          <a:bodyPr wrap="square">
            <a:spAutoFit/>
          </a:bodyPr>
          <a:lstStyle/>
          <a:p>
            <a:pPr marR="0" algn="l" rtl="0">
              <a:lnSpc>
                <a:spcPct val="100000"/>
              </a:lnSpc>
              <a:spcAft>
                <a:spcPts val="600"/>
              </a:spcAft>
            </a:pPr>
            <a:r>
              <a:rPr lang="en-AU" sz="2400" b="0" i="0" u="none" strike="noStrike" baseline="30000" dirty="0">
                <a:solidFill>
                  <a:schemeClr val="bg1"/>
                </a:solidFill>
                <a:latin typeface="+mn-lt"/>
              </a:rPr>
              <a:t>QUT acknowledges the Turrbal and Yugara, as the First Nations owners of the lands where QUT now stands. We pay respect to their Elders, lores, customs and creation spirits. We recognise that these lands have always been places of teaching, research and learning. ​</a:t>
            </a:r>
          </a:p>
          <a:p>
            <a:pPr marR="0" algn="l" rtl="0">
              <a:lnSpc>
                <a:spcPct val="100000"/>
              </a:lnSpc>
              <a:spcAft>
                <a:spcPts val="600"/>
              </a:spcAft>
            </a:pPr>
            <a:r>
              <a:rPr lang="en-AU" sz="2400" b="0" i="0" u="none" strike="noStrike" baseline="30000" dirty="0">
                <a:solidFill>
                  <a:schemeClr val="bg1"/>
                </a:solidFill>
                <a:latin typeface="+mn-lt"/>
              </a:rPr>
              <a:t>QUT acknowledges the important role Aboriginal and Torres Strait Islander people play within the QUT community.​</a:t>
            </a:r>
          </a:p>
          <a:p>
            <a:pPr marR="0" algn="l" rtl="0">
              <a:lnSpc>
                <a:spcPct val="100000"/>
              </a:lnSpc>
              <a:spcAft>
                <a:spcPts val="600"/>
              </a:spcAft>
            </a:pPr>
            <a:endParaRPr lang="en-AU" sz="2400" dirty="0">
              <a:solidFill>
                <a:schemeClr val="bg1"/>
              </a:solidFill>
              <a:latin typeface="+mn-lt"/>
            </a:endParaRPr>
          </a:p>
        </p:txBody>
      </p:sp>
      <p:sp>
        <p:nvSpPr>
          <p:cNvPr id="12" name="TextBox 11">
            <a:extLst>
              <a:ext uri="{FF2B5EF4-FFF2-40B4-BE49-F238E27FC236}">
                <a16:creationId xmlns:a16="http://schemas.microsoft.com/office/drawing/2014/main" id="{0D8FB860-6D57-4BAC-8ECF-0B93F59FD5F7}"/>
              </a:ext>
              <a:ext uri="{C183D7F6-B498-43B3-948B-1728B52AA6E4}">
                <adec:decorative xmlns:adec="http://schemas.microsoft.com/office/drawing/2017/decorative" val="1"/>
              </a:ext>
            </a:extLst>
          </p:cNvPr>
          <p:cNvSpPr txBox="1"/>
          <p:nvPr userDrawn="1"/>
        </p:nvSpPr>
        <p:spPr>
          <a:xfrm>
            <a:off x="3179702" y="2675312"/>
            <a:ext cx="6093994" cy="379591"/>
          </a:xfrm>
          <a:prstGeom prst="rect">
            <a:avLst/>
          </a:prstGeom>
          <a:noFill/>
        </p:spPr>
        <p:txBody>
          <a:bodyPr wrap="square">
            <a:spAutoFit/>
          </a:bodyPr>
          <a:lstStyle/>
          <a:p>
            <a:pPr marR="0" algn="l" rtl="0"/>
            <a:r>
              <a:rPr lang="en-AU" sz="2800" b="1" i="0" u="none" strike="noStrike" baseline="30000" noProof="0">
                <a:solidFill>
                  <a:schemeClr val="bg1"/>
                </a:solidFill>
                <a:latin typeface="Arial" panose="020B0604020202020204" pitchFamily="34" charset="0"/>
              </a:rPr>
              <a:t>ACKNOWLEDGEMENT OF TRADITIONAL OWNERS </a:t>
            </a:r>
          </a:p>
        </p:txBody>
      </p:sp>
    </p:spTree>
    <p:extLst>
      <p:ext uri="{BB962C8B-B14F-4D97-AF65-F5344CB8AC3E}">
        <p14:creationId xmlns:p14="http://schemas.microsoft.com/office/powerpoint/2010/main" val="1610645131"/>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_Standard Slide">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 uri="{C183D7F6-B498-43B3-948B-1728B52AA6E4}">
                <adec:decorative xmlns:adec="http://schemas.microsoft.com/office/drawing/2017/decorative" val="1"/>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p:nvPr>
        </p:nvSpPr>
        <p:spPr>
          <a:xfrm>
            <a:off x="468000" y="1800000"/>
            <a:ext cx="11232000" cy="3960000"/>
          </a:xfrm>
          <a:prstGeom prst="rect">
            <a:avLst/>
          </a:prstGeom>
        </p:spPr>
        <p:txBody>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latin typeface="+mj-lt"/>
              </a:defRPr>
            </a:lvl1pPr>
          </a:lstStyle>
          <a:p>
            <a:r>
              <a:rPr lang="en-US"/>
              <a:t>Click to edit Master title style</a:t>
            </a:r>
            <a:endParaRPr lang="en-AU" dirty="0"/>
          </a:p>
        </p:txBody>
      </p:sp>
    </p:spTree>
    <p:extLst>
      <p:ext uri="{BB962C8B-B14F-4D97-AF65-F5344CB8AC3E}">
        <p14:creationId xmlns:p14="http://schemas.microsoft.com/office/powerpoint/2010/main" val="69163181"/>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Standard slide">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p>
            <a:r>
              <a:rPr lang="en-US"/>
              <a:t>Click to edit Master title style</a:t>
            </a:r>
            <a:endParaRPr lang="en-AU" dirty="0"/>
          </a:p>
        </p:txBody>
      </p:sp>
    </p:spTree>
    <p:extLst>
      <p:ext uri="{BB962C8B-B14F-4D97-AF65-F5344CB8AC3E}">
        <p14:creationId xmlns:p14="http://schemas.microsoft.com/office/powerpoint/2010/main" val="50584816"/>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4_Two column slide">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CED1A86-7C00-4B5E-BF2D-030A391AC223}"/>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4" name="Content Placeholder 3">
            <a:extLst>
              <a:ext uri="{FF2B5EF4-FFF2-40B4-BE49-F238E27FC236}">
                <a16:creationId xmlns:a16="http://schemas.microsoft.com/office/drawing/2014/main" id="{CFDA814E-6A9F-478A-8061-C5740CBC088C}"/>
              </a:ext>
              <a:ext uri="{C183D7F6-B498-43B3-948B-1728B52AA6E4}">
                <adec:decorative xmlns:adec="http://schemas.microsoft.com/office/drawing/2017/decorative" val="1"/>
              </a:ext>
            </a:extLst>
          </p:cNvPr>
          <p:cNvSpPr>
            <a:spLocks noGrp="1"/>
          </p:cNvSpPr>
          <p:nvPr>
            <p:ph sz="half" idx="2"/>
          </p:nvPr>
        </p:nvSpPr>
        <p:spPr>
          <a:xfrm>
            <a:off x="6189537" y="1800000"/>
            <a:ext cx="5510463" cy="3960000"/>
          </a:xfrm>
          <a:prstGeom prst="rect">
            <a:avLst/>
          </a:prstGeom>
        </p:spPr>
        <p:txBody>
          <a:bodyPr>
            <a:normAutofit/>
          </a:bodyPr>
          <a:lstStyle>
            <a:lvl1pPr>
              <a:defRPr sz="2000" baseline="0">
                <a:solidFill>
                  <a:srgbClr val="000619"/>
                </a:solidFill>
              </a:defRPr>
            </a:lvl1pPr>
            <a:lvl2pPr>
              <a:defRPr sz="2000" baseline="0">
                <a:solidFill>
                  <a:srgbClr val="000619"/>
                </a:solidFill>
              </a:defRPr>
            </a:lvl2pPr>
            <a:lvl3pPr>
              <a:defRPr sz="2000" baseline="0">
                <a:solidFill>
                  <a:srgbClr val="000619"/>
                </a:solidFill>
              </a:defRPr>
            </a:lvl3pPr>
            <a:lvl4pPr>
              <a:defRPr sz="2000" baseline="0">
                <a:solidFill>
                  <a:srgbClr val="000619"/>
                </a:solidFill>
              </a:defRPr>
            </a:lvl4pPr>
            <a:lvl5pPr>
              <a:defRPr sz="2000" baseline="0">
                <a:solidFill>
                  <a:srgbClr val="00061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2">
            <a:extLst>
              <a:ext uri="{FF2B5EF4-FFF2-40B4-BE49-F238E27FC236}">
                <a16:creationId xmlns:a16="http://schemas.microsoft.com/office/drawing/2014/main" id="{AE3B8D85-19EE-40D8-B0FC-72738D139668}"/>
              </a:ext>
              <a:ext uri="{C183D7F6-B498-43B3-948B-1728B52AA6E4}">
                <adec:decorative xmlns:adec="http://schemas.microsoft.com/office/drawing/2017/decorative" val="1"/>
              </a:ext>
            </a:extLst>
          </p:cNvPr>
          <p:cNvSpPr>
            <a:spLocks noGrp="1"/>
          </p:cNvSpPr>
          <p:nvPr>
            <p:ph sz="half" idx="1"/>
          </p:nvPr>
        </p:nvSpPr>
        <p:spPr>
          <a:xfrm>
            <a:off x="468000" y="1800000"/>
            <a:ext cx="5430253" cy="3960000"/>
          </a:xfrm>
          <a:prstGeom prst="rect">
            <a:avLst/>
          </a:prstGeom>
        </p:spPr>
        <p:txBody>
          <a:bodyPr>
            <a:normAutofit/>
          </a:bodyPr>
          <a:lstStyle>
            <a:lvl1pPr>
              <a:defRPr sz="2000" baseline="0">
                <a:solidFill>
                  <a:srgbClr val="1C1C1C"/>
                </a:solidFill>
              </a:defRPr>
            </a:lvl1pPr>
            <a:lvl2pPr>
              <a:defRPr sz="2000" baseline="0">
                <a:solidFill>
                  <a:srgbClr val="1C1C1C"/>
                </a:solidFill>
              </a:defRPr>
            </a:lvl2pPr>
            <a:lvl3pPr>
              <a:defRPr sz="2000" baseline="0">
                <a:solidFill>
                  <a:srgbClr val="1C1C1C"/>
                </a:solidFill>
              </a:defRPr>
            </a:lvl3pPr>
            <a:lvl4pPr>
              <a:defRPr sz="2000" baseline="0">
                <a:solidFill>
                  <a:srgbClr val="1C1C1C"/>
                </a:solidFill>
              </a:defRPr>
            </a:lvl4pPr>
            <a:lvl5pPr>
              <a:defRPr sz="2000" baseline="0">
                <a:solidFill>
                  <a:srgbClr val="1C1C1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3D32BEA0-D192-4426-8039-EC77442576C8}"/>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p>
            <a:r>
              <a:rPr lang="en-US"/>
              <a:t>Click to edit Master title style</a:t>
            </a:r>
            <a:endParaRPr lang="en-AU" dirty="0"/>
          </a:p>
        </p:txBody>
      </p:sp>
    </p:spTree>
    <p:extLst>
      <p:ext uri="{BB962C8B-B14F-4D97-AF65-F5344CB8AC3E}">
        <p14:creationId xmlns:p14="http://schemas.microsoft.com/office/powerpoint/2010/main" val="3990707427"/>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5_Dark blue highlight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342974789"/>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6_bright blue high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tx2"/>
                </a:solidFill>
              </a:defRPr>
            </a:lvl1pPr>
          </a:lstStyle>
          <a:p>
            <a:r>
              <a:rPr lang="en-US"/>
              <a:t>Click to edit Master title style</a:t>
            </a:r>
            <a:endParaRPr lang="en-AU" dirty="0"/>
          </a:p>
        </p:txBody>
      </p:sp>
    </p:spTree>
    <p:extLst>
      <p:ext uri="{BB962C8B-B14F-4D97-AF65-F5344CB8AC3E}">
        <p14:creationId xmlns:p14="http://schemas.microsoft.com/office/powerpoint/2010/main" val="3016836911"/>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blank ">
    <p:spTree>
      <p:nvGrpSpPr>
        <p:cNvPr id="1" name=""/>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00BC167D-F647-4BE2-BBA9-8ADE0451500E}"/>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Tree>
    <p:extLst>
      <p:ext uri="{BB962C8B-B14F-4D97-AF65-F5344CB8AC3E}">
        <p14:creationId xmlns:p14="http://schemas.microsoft.com/office/powerpoint/2010/main" val="1158394569"/>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Chapter Page_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Chapter Title</a:t>
            </a:r>
            <a:endParaRPr lang="en-AU" dirty="0"/>
          </a:p>
        </p:txBody>
      </p:sp>
    </p:spTree>
    <p:extLst>
      <p:ext uri="{BB962C8B-B14F-4D97-AF65-F5344CB8AC3E}">
        <p14:creationId xmlns:p14="http://schemas.microsoft.com/office/powerpoint/2010/main" val="3357113901"/>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Chapter Page_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Chapter Title</a:t>
            </a:r>
            <a:endParaRPr lang="en-AU" dirty="0"/>
          </a:p>
        </p:txBody>
      </p:sp>
    </p:spTree>
    <p:extLst>
      <p:ext uri="{BB962C8B-B14F-4D97-AF65-F5344CB8AC3E}">
        <p14:creationId xmlns:p14="http://schemas.microsoft.com/office/powerpoint/2010/main" val="1566651158"/>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Chapter Page_C">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Chapter Title</a:t>
            </a:r>
            <a:endParaRPr lang="en-AU" dirty="0"/>
          </a:p>
        </p:txBody>
      </p:sp>
    </p:spTree>
    <p:extLst>
      <p:ext uri="{BB962C8B-B14F-4D97-AF65-F5344CB8AC3E}">
        <p14:creationId xmlns:p14="http://schemas.microsoft.com/office/powerpoint/2010/main" val="2234825548"/>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descr="CRICOS No. 00213J">
            <a:extLst>
              <a:ext uri="{FF2B5EF4-FFF2-40B4-BE49-F238E27FC236}">
                <a16:creationId xmlns:a16="http://schemas.microsoft.com/office/drawing/2014/main" id="{3819D453-5A42-99B4-BEE6-9B49622C4FFE}"/>
              </a:ext>
            </a:extLst>
          </p:cNvPr>
          <p:cNvSpPr txBox="1"/>
          <p:nvPr userDrawn="1"/>
        </p:nvSpPr>
        <p:spPr>
          <a:xfrm>
            <a:off x="345920" y="5861551"/>
            <a:ext cx="2663287" cy="169277"/>
          </a:xfrm>
          <a:prstGeom prst="rect">
            <a:avLst/>
          </a:prstGeom>
          <a:noFill/>
        </p:spPr>
        <p:txBody>
          <a:bodyPr wrap="square" rtlCol="0">
            <a:spAutoFit/>
          </a:bodyPr>
          <a:lstStyle/>
          <a:p>
            <a:pPr algn="l"/>
            <a:r>
              <a:rPr lang="en-AU" sz="500" dirty="0">
                <a:solidFill>
                  <a:schemeClr val="bg2">
                    <a:lumMod val="75000"/>
                  </a:schemeClr>
                </a:solidFill>
              </a:rPr>
              <a:t>TEQSA Provider ID PRV12079  Australian University | CRICOS No.00213J</a:t>
            </a:r>
          </a:p>
        </p:txBody>
      </p:sp>
      <p:pic>
        <p:nvPicPr>
          <p:cNvPr id="10" name="Picture 9">
            <a:extLst>
              <a:ext uri="{FF2B5EF4-FFF2-40B4-BE49-F238E27FC236}">
                <a16:creationId xmlns:a16="http://schemas.microsoft.com/office/drawing/2014/main" id="{104FBEC7-6426-4AEC-A1CC-40670871954C}"/>
              </a:ext>
              <a:ext uri="{C183D7F6-B498-43B3-948B-1728B52AA6E4}">
                <adec:decorative xmlns:adec="http://schemas.microsoft.com/office/drawing/2017/decorative" val="1"/>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1" y="6080044"/>
            <a:ext cx="12192000" cy="777956"/>
          </a:xfrm>
          <a:prstGeom prst="rect">
            <a:avLst/>
          </a:prstGeom>
        </p:spPr>
      </p:pic>
      <p:pic>
        <p:nvPicPr>
          <p:cNvPr id="4" name="Picture 3" descr="Logo - Queensland University of Technology">
            <a:extLst>
              <a:ext uri="{FF2B5EF4-FFF2-40B4-BE49-F238E27FC236}">
                <a16:creationId xmlns:a16="http://schemas.microsoft.com/office/drawing/2014/main" id="{771F55EB-84E1-4510-9C72-0DF84EA1B1A4}"/>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11267892" y="6218210"/>
            <a:ext cx="481643" cy="481643"/>
          </a:xfrm>
          <a:prstGeom prst="rect">
            <a:avLst/>
          </a:prstGeom>
        </p:spPr>
      </p:pic>
      <p:sp>
        <p:nvSpPr>
          <p:cNvPr id="5" name="TextBox 4">
            <a:extLst>
              <a:ext uri="{FF2B5EF4-FFF2-40B4-BE49-F238E27FC236}">
                <a16:creationId xmlns:a16="http://schemas.microsoft.com/office/drawing/2014/main" id="{1475DFC8-C02E-4F5E-BE32-FE282B7EF40D}"/>
              </a:ext>
              <a:ext uri="{C183D7F6-B498-43B3-948B-1728B52AA6E4}">
                <adec:decorative xmlns:adec="http://schemas.microsoft.com/office/drawing/2017/decorative" val="1"/>
              </a:ext>
            </a:extLst>
          </p:cNvPr>
          <p:cNvSpPr txBox="1"/>
          <p:nvPr userDrawn="1"/>
        </p:nvSpPr>
        <p:spPr>
          <a:xfrm>
            <a:off x="345921" y="6228200"/>
            <a:ext cx="6049925" cy="446276"/>
          </a:xfrm>
          <a:prstGeom prst="rect">
            <a:avLst/>
          </a:prstGeom>
          <a:noFill/>
        </p:spPr>
        <p:txBody>
          <a:bodyPr wrap="square" rtlCol="0">
            <a:spAutoFit/>
          </a:bodyPr>
          <a:lstStyle/>
          <a:p>
            <a:r>
              <a:rPr lang="en-AU" sz="1200" b="1" dirty="0">
                <a:solidFill>
                  <a:schemeClr val="bg1"/>
                </a:solidFill>
              </a:rPr>
              <a:t>MXB362 – Advanced Visualisation and Data Sciences</a:t>
            </a:r>
          </a:p>
          <a:p>
            <a:r>
              <a:rPr lang="en-AU" sz="1100" b="0" dirty="0">
                <a:solidFill>
                  <a:schemeClr val="bg1"/>
                </a:solidFill>
              </a:rPr>
              <a:t>School of </a:t>
            </a:r>
            <a:r>
              <a:rPr lang="en-AU" sz="1100" b="0">
                <a:solidFill>
                  <a:schemeClr val="bg1"/>
                </a:solidFill>
              </a:rPr>
              <a:t>Mathematical Sciences</a:t>
            </a:r>
            <a:endParaRPr lang="en-AU" sz="1100" b="0" dirty="0">
              <a:solidFill>
                <a:schemeClr val="bg1"/>
              </a:solidFill>
            </a:endParaRPr>
          </a:p>
        </p:txBody>
      </p:sp>
      <p:sp>
        <p:nvSpPr>
          <p:cNvPr id="8" name="Text Placeholder 2">
            <a:extLst>
              <a:ext uri="{FF2B5EF4-FFF2-40B4-BE49-F238E27FC236}">
                <a16:creationId xmlns:a16="http://schemas.microsoft.com/office/drawing/2014/main" id="{1409811D-58FA-4569-BF65-03783DB26BAA}"/>
              </a:ext>
            </a:extLst>
          </p:cNvPr>
          <p:cNvSpPr>
            <a:spLocks noGrp="1"/>
          </p:cNvSpPr>
          <p:nvPr>
            <p:ph type="body" idx="1"/>
          </p:nvPr>
        </p:nvSpPr>
        <p:spPr>
          <a:xfrm>
            <a:off x="468000" y="1800000"/>
            <a:ext cx="11232000" cy="396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Placeholder 1">
            <a:extLst>
              <a:ext uri="{FF2B5EF4-FFF2-40B4-BE49-F238E27FC236}">
                <a16:creationId xmlns:a16="http://schemas.microsoft.com/office/drawing/2014/main" id="{EF70AB86-8F1E-44CD-82C9-F9C4926C0D76}"/>
              </a:ext>
            </a:extLst>
          </p:cNvPr>
          <p:cNvSpPr>
            <a:spLocks noGrp="1"/>
          </p:cNvSpPr>
          <p:nvPr>
            <p:ph type="title"/>
          </p:nvPr>
        </p:nvSpPr>
        <p:spPr>
          <a:xfrm>
            <a:off x="468000" y="360000"/>
            <a:ext cx="11232000" cy="1332000"/>
          </a:xfrm>
          <a:prstGeom prst="rect">
            <a:avLst/>
          </a:prstGeom>
        </p:spPr>
        <p:txBody>
          <a:bodyPr vert="horz" lIns="91440" tIns="45720" rIns="91440" bIns="45720" rtlCol="0" anchor="ctr">
            <a:normAutofit/>
          </a:bodyPr>
          <a:lstStyle/>
          <a:p>
            <a:r>
              <a:rPr lang="en-US"/>
              <a:t>Click to edit Master title style</a:t>
            </a:r>
            <a:endParaRPr lang="en-AU" dirty="0"/>
          </a:p>
        </p:txBody>
      </p:sp>
    </p:spTree>
    <p:extLst>
      <p:ext uri="{BB962C8B-B14F-4D97-AF65-F5344CB8AC3E}">
        <p14:creationId xmlns:p14="http://schemas.microsoft.com/office/powerpoint/2010/main" val="32327397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3" r:id="rId3"/>
    <p:sldLayoutId id="2147483662" r:id="rId4"/>
    <p:sldLayoutId id="2147483664" r:id="rId5"/>
    <p:sldLayoutId id="2147483668" r:id="rId6"/>
    <p:sldLayoutId id="2147483649" r:id="rId7"/>
    <p:sldLayoutId id="2147483650" r:id="rId8"/>
    <p:sldLayoutId id="2147483665" r:id="rId9"/>
    <p:sldLayoutId id="2147483652" r:id="rId10"/>
    <p:sldLayoutId id="2147483666" r:id="rId11"/>
    <p:sldLayoutId id="2147483667" r:id="rId12"/>
    <p:sldLayoutId id="2147483654" r:id="rId13"/>
    <p:sldLayoutId id="2147483669" r:id="rId14"/>
    <p:sldLayoutId id="2147483670" r:id="rId15"/>
    <p:sldLayoutId id="2147483671" r:id="rId16"/>
  </p:sldLayoutIdLst>
  <p:transition spd="med">
    <p:fade/>
  </p:transition>
  <p:hf sldNum="0" hdr="0" ftr="0" dt="0"/>
  <p:txStyles>
    <p:titleStyle>
      <a:lvl1pPr algn="l" defTabSz="914400" rtl="0" eaLnBrk="1" latinLnBrk="0" hangingPunct="1">
        <a:lnSpc>
          <a:spcPct val="90000"/>
        </a:lnSpc>
        <a:spcBef>
          <a:spcPct val="0"/>
        </a:spcBef>
        <a:buNone/>
        <a:defRPr sz="4400" b="1" kern="1200" baseline="0">
          <a:solidFill>
            <a:srgbClr val="164C7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3DE832-F663-6D4C-A6CE-16EE7AC91959}"/>
              </a:ext>
            </a:extLst>
          </p:cNvPr>
          <p:cNvSpPr>
            <a:spLocks noGrp="1"/>
          </p:cNvSpPr>
          <p:nvPr>
            <p:ph type="body" sz="quarter" idx="10"/>
          </p:nvPr>
        </p:nvSpPr>
        <p:spPr/>
        <p:txBody>
          <a:bodyPr/>
          <a:lstStyle/>
          <a:p>
            <a:endParaRPr lang="en-AU"/>
          </a:p>
        </p:txBody>
      </p:sp>
      <p:sp>
        <p:nvSpPr>
          <p:cNvPr id="3" name="Subtitle 2">
            <a:extLst>
              <a:ext uri="{FF2B5EF4-FFF2-40B4-BE49-F238E27FC236}">
                <a16:creationId xmlns:a16="http://schemas.microsoft.com/office/drawing/2014/main" id="{E3374E54-987E-7848-8633-7203E9A9200B}"/>
              </a:ext>
            </a:extLst>
          </p:cNvPr>
          <p:cNvSpPr>
            <a:spLocks noGrp="1"/>
          </p:cNvSpPr>
          <p:nvPr>
            <p:ph type="subTitle" idx="1"/>
          </p:nvPr>
        </p:nvSpPr>
        <p:spPr/>
        <p:txBody>
          <a:bodyPr/>
          <a:lstStyle/>
          <a:p>
            <a:endParaRPr lang="en-AU"/>
          </a:p>
        </p:txBody>
      </p:sp>
      <p:sp>
        <p:nvSpPr>
          <p:cNvPr id="4" name="Title 3">
            <a:extLst>
              <a:ext uri="{FF2B5EF4-FFF2-40B4-BE49-F238E27FC236}">
                <a16:creationId xmlns:a16="http://schemas.microsoft.com/office/drawing/2014/main" id="{4CB231B7-6131-0949-BB3E-AE7ACD17A209}"/>
              </a:ext>
            </a:extLst>
          </p:cNvPr>
          <p:cNvSpPr>
            <a:spLocks noGrp="1"/>
          </p:cNvSpPr>
          <p:nvPr>
            <p:ph type="ctrTitle"/>
          </p:nvPr>
        </p:nvSpPr>
        <p:spPr>
          <a:xfrm>
            <a:off x="3308808" y="2481443"/>
            <a:ext cx="8000626" cy="1904842"/>
          </a:xfrm>
        </p:spPr>
        <p:txBody>
          <a:bodyPr>
            <a:normAutofit/>
          </a:bodyPr>
          <a:lstStyle/>
          <a:p>
            <a:r>
              <a:rPr lang="en-US" dirty="0"/>
              <a:t>Volume </a:t>
            </a:r>
            <a:r>
              <a:rPr lang="en-US" dirty="0" err="1"/>
              <a:t>Visualisation</a:t>
            </a:r>
            <a:r>
              <a:rPr lang="en-US" dirty="0"/>
              <a:t> 2</a:t>
            </a:r>
            <a:endParaRPr lang="en-AU" dirty="0"/>
          </a:p>
        </p:txBody>
      </p:sp>
    </p:spTree>
    <p:extLst>
      <p:ext uri="{BB962C8B-B14F-4D97-AF65-F5344CB8AC3E}">
        <p14:creationId xmlns:p14="http://schemas.microsoft.com/office/powerpoint/2010/main" val="269328962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AU" dirty="0"/>
              <a:t>A simple volume renderer</a:t>
            </a:r>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p:txBody>
          <a:bodyPr>
            <a:normAutofit/>
          </a:bodyPr>
          <a:lstStyle/>
          <a:p>
            <a:pPr marL="0" indent="0">
              <a:buNone/>
            </a:pPr>
            <a:r>
              <a:rPr lang="en-US" sz="1400" dirty="0"/>
              <a:t>You have been supplied with a data volume, </a:t>
            </a:r>
            <a:r>
              <a:rPr lang="en-US" sz="1400" dirty="0" err="1"/>
              <a:t>DiCubic.mat</a:t>
            </a:r>
            <a:r>
              <a:rPr lang="en-US" sz="1400" dirty="0"/>
              <a:t>, a 256 x 256 x 54 MRI scan of a portion of a human head. Write an R script that loads and then analyses the Di array as follows (recall that the </a:t>
            </a:r>
            <a:r>
              <a:rPr lang="en-US" sz="1400" i="1" dirty="0" err="1"/>
              <a:t>readMat</a:t>
            </a:r>
            <a:r>
              <a:rPr lang="en-US" sz="1400" i="1" dirty="0"/>
              <a:t> </a:t>
            </a:r>
            <a:r>
              <a:rPr lang="en-US" sz="1400" dirty="0"/>
              <a:t>from the </a:t>
            </a:r>
            <a:r>
              <a:rPr lang="en-US" sz="1400" dirty="0" err="1"/>
              <a:t>R.matlab</a:t>
            </a:r>
            <a:r>
              <a:rPr lang="en-US" sz="1400" dirty="0"/>
              <a:t> library can be used to load .mat files in R):</a:t>
            </a:r>
          </a:p>
          <a:p>
            <a:pPr marL="342900" indent="-342900">
              <a:buFont typeface="+mj-lt"/>
              <a:buAutoNum type="arabicPeriod"/>
            </a:pPr>
            <a:r>
              <a:rPr lang="en-US" sz="1400" dirty="0"/>
              <a:t>Denote the elements of Di as (</a:t>
            </a:r>
            <a:r>
              <a:rPr lang="en-US" sz="1400" dirty="0" err="1"/>
              <a:t>x,y,z</a:t>
            </a:r>
            <a:r>
              <a:rPr lang="en-US" sz="1400" dirty="0"/>
              <a:t>), </a:t>
            </a:r>
            <a:br>
              <a:rPr lang="en-US" sz="1400" dirty="0"/>
            </a:br>
            <a:r>
              <a:rPr lang="en-US" sz="1400" dirty="0"/>
              <a:t>	where x = 1:256, y = 1:256 and z = 1:54.</a:t>
            </a:r>
          </a:p>
          <a:p>
            <a:pPr marL="342900" indent="-342900">
              <a:buFont typeface="+mj-lt"/>
              <a:buAutoNum type="arabicPeriod"/>
            </a:pPr>
            <a:r>
              <a:rPr lang="en-US" sz="1400" dirty="0"/>
              <a:t>At each point (</a:t>
            </a:r>
            <a:r>
              <a:rPr lang="en-US" sz="1400" dirty="0" err="1"/>
              <a:t>x,y</a:t>
            </a:r>
            <a:r>
              <a:rPr lang="en-US" sz="1400" dirty="0"/>
              <a:t>) of Di, sum the values over all z and put them in an array called I. That is, I(x1,y1) =  Di(x1,y1,1) + Di(x1</a:t>
            </a:r>
            <a:r>
              <a:rPr lang="en-US" sz="1400"/>
              <a:t>,y1,2) </a:t>
            </a:r>
            <a:r>
              <a:rPr lang="en-US" sz="1400" dirty="0"/>
              <a:t>+ …+ Di(x1,y1, 54).</a:t>
            </a:r>
            <a:br>
              <a:rPr lang="en-US" sz="1400" dirty="0"/>
            </a:br>
            <a:r>
              <a:rPr lang="en-US" sz="1400" dirty="0">
                <a:solidFill>
                  <a:srgbClr val="FF0000"/>
                </a:solidFill>
              </a:rPr>
              <a:t>	</a:t>
            </a:r>
            <a:r>
              <a:rPr lang="en-US" sz="1400" dirty="0">
                <a:solidFill>
                  <a:schemeClr val="tx1"/>
                </a:solidFill>
              </a:rPr>
              <a:t>hint - use the </a:t>
            </a:r>
            <a:r>
              <a:rPr lang="en-US" sz="1400" i="1" dirty="0">
                <a:solidFill>
                  <a:schemeClr val="tx1"/>
                </a:solidFill>
              </a:rPr>
              <a:t>sum</a:t>
            </a:r>
            <a:r>
              <a:rPr lang="en-US" sz="1400" dirty="0">
                <a:solidFill>
                  <a:schemeClr val="tx1"/>
                </a:solidFill>
              </a:rPr>
              <a:t> command or a </a:t>
            </a:r>
            <a:r>
              <a:rPr lang="en-US" sz="1400" i="1" dirty="0">
                <a:solidFill>
                  <a:schemeClr val="tx1"/>
                </a:solidFill>
              </a:rPr>
              <a:t>for</a:t>
            </a:r>
            <a:r>
              <a:rPr lang="en-US" sz="1400" dirty="0">
                <a:solidFill>
                  <a:schemeClr val="tx1"/>
                </a:solidFill>
              </a:rPr>
              <a:t> loop.</a:t>
            </a:r>
          </a:p>
          <a:p>
            <a:pPr marL="342900" indent="-342900">
              <a:buFont typeface="+mj-lt"/>
              <a:buAutoNum type="arabicPeriod"/>
            </a:pPr>
            <a:r>
              <a:rPr lang="en-US" sz="1400" dirty="0"/>
              <a:t>Display the matrix I using </a:t>
            </a:r>
            <a:r>
              <a:rPr lang="en-US" sz="1400" i="1" dirty="0"/>
              <a:t>image</a:t>
            </a:r>
            <a:r>
              <a:rPr lang="en-US" sz="1400" dirty="0"/>
              <a:t> command and a gray scale colourmap.</a:t>
            </a:r>
          </a:p>
          <a:p>
            <a:pPr marL="0" indent="0">
              <a:buNone/>
            </a:pPr>
            <a:endParaRPr lang="en-US" sz="1400" dirty="0"/>
          </a:p>
          <a:p>
            <a:pPr marL="0" indent="0">
              <a:buNone/>
            </a:pPr>
            <a:r>
              <a:rPr lang="en-US" sz="1400" dirty="0"/>
              <a:t>The small script you have just written is in fact a very simple volume renderer. Describe the simple volume renderer you have just written.</a:t>
            </a:r>
          </a:p>
          <a:p>
            <a:r>
              <a:rPr lang="en-US" sz="1400" dirty="0"/>
              <a:t>What blending mode does it implement?</a:t>
            </a:r>
          </a:p>
          <a:p>
            <a:pPr marL="0" indent="0">
              <a:buNone/>
            </a:pPr>
            <a:r>
              <a:rPr lang="en-US" sz="1400" dirty="0"/>
              <a:t>Modify your volume renderer to use Maximum Intensity Projection (MIP).</a:t>
            </a:r>
            <a:endParaRPr lang="en-AU" sz="1400" dirty="0"/>
          </a:p>
        </p:txBody>
      </p:sp>
    </p:spTree>
    <p:extLst>
      <p:ext uri="{BB962C8B-B14F-4D97-AF65-F5344CB8AC3E}">
        <p14:creationId xmlns:p14="http://schemas.microsoft.com/office/powerpoint/2010/main" val="2812679239"/>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AU" dirty="0"/>
              <a:t>A simple volume renderer </a:t>
            </a:r>
            <a:r>
              <a:rPr lang="en-US" dirty="0"/>
              <a:t>(continued)</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7430207" cy="3960000"/>
          </a:xfrm>
        </p:spPr>
        <p:txBody>
          <a:bodyPr>
            <a:normAutofit/>
          </a:bodyPr>
          <a:lstStyle/>
          <a:p>
            <a:pPr marL="0" indent="0">
              <a:buNone/>
            </a:pPr>
            <a:r>
              <a:rPr lang="en-US" sz="1800" dirty="0"/>
              <a:t>The file </a:t>
            </a:r>
            <a:r>
              <a:rPr lang="en-US" sz="1800" dirty="0" err="1"/>
              <a:t>aneurism.mat</a:t>
            </a:r>
            <a:r>
              <a:rPr lang="en-US" sz="1800" dirty="0"/>
              <a:t> contains an MRI scan of an aneurism located in the brain. </a:t>
            </a:r>
          </a:p>
          <a:p>
            <a:pPr marL="0" indent="0">
              <a:buNone/>
            </a:pPr>
            <a:endParaRPr lang="en-US" sz="1800" dirty="0"/>
          </a:p>
          <a:p>
            <a:pPr marL="0" indent="0">
              <a:buNone/>
            </a:pPr>
            <a:r>
              <a:rPr lang="en-US" sz="1800" dirty="0"/>
              <a:t>Using your simple volume renderer, create average </a:t>
            </a:r>
          </a:p>
          <a:p>
            <a:pPr marL="0" indent="0">
              <a:buNone/>
            </a:pPr>
            <a:r>
              <a:rPr lang="en-US" sz="1800" dirty="0"/>
              <a:t>value (X-Ray) and MIP volume renderings of this data set.</a:t>
            </a:r>
          </a:p>
          <a:p>
            <a:pPr marL="0" indent="0">
              <a:buNone/>
            </a:pPr>
            <a:endParaRPr lang="en-US" sz="1800" dirty="0"/>
          </a:p>
          <a:p>
            <a:pPr marL="0" indent="0">
              <a:buNone/>
            </a:pPr>
            <a:r>
              <a:rPr lang="en-US" sz="1800" dirty="0"/>
              <a:t>Try various colourmaps on the aneurism renderings, and compare the results you get from using each blending technique from the previous slide. </a:t>
            </a:r>
          </a:p>
        </p:txBody>
      </p:sp>
      <p:pic>
        <p:nvPicPr>
          <p:cNvPr id="2" name="Picture 1">
            <a:extLst>
              <a:ext uri="{FF2B5EF4-FFF2-40B4-BE49-F238E27FC236}">
                <a16:creationId xmlns:a16="http://schemas.microsoft.com/office/drawing/2014/main" id="{4C610724-375E-6335-3967-D9321E83F0E1}"/>
              </a:ext>
            </a:extLst>
          </p:cNvPr>
          <p:cNvPicPr>
            <a:picLocks noChangeAspect="1"/>
          </p:cNvPicPr>
          <p:nvPr/>
        </p:nvPicPr>
        <p:blipFill>
          <a:blip r:embed="rId2">
            <a:lum/>
            <a:alphaModFix/>
          </a:blip>
          <a:srcRect/>
          <a:stretch>
            <a:fillRect/>
          </a:stretch>
        </p:blipFill>
        <p:spPr>
          <a:xfrm>
            <a:off x="8221009" y="2420397"/>
            <a:ext cx="2285640" cy="2286000"/>
          </a:xfrm>
          <a:prstGeom prst="rect">
            <a:avLst/>
          </a:prstGeom>
          <a:noFill/>
          <a:ln>
            <a:noFill/>
          </a:ln>
        </p:spPr>
      </p:pic>
    </p:spTree>
    <p:extLst>
      <p:ext uri="{BB962C8B-B14F-4D97-AF65-F5344CB8AC3E}">
        <p14:creationId xmlns:p14="http://schemas.microsoft.com/office/powerpoint/2010/main" val="223271646"/>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Common Ray Traversal Blending Modes</a:t>
            </a:r>
          </a:p>
        </p:txBody>
      </p:sp>
      <p:grpSp>
        <p:nvGrpSpPr>
          <p:cNvPr id="7" name="Group 6">
            <a:extLst>
              <a:ext uri="{FF2B5EF4-FFF2-40B4-BE49-F238E27FC236}">
                <a16:creationId xmlns:a16="http://schemas.microsoft.com/office/drawing/2014/main" id="{DD25EEF9-E0E2-1295-1D03-80BF07FDCC4E}"/>
              </a:ext>
            </a:extLst>
          </p:cNvPr>
          <p:cNvGrpSpPr/>
          <p:nvPr/>
        </p:nvGrpSpPr>
        <p:grpSpPr>
          <a:xfrm>
            <a:off x="701749" y="511027"/>
            <a:ext cx="7620000" cy="5400675"/>
            <a:chOff x="1371600" y="1000125"/>
            <a:chExt cx="7620000" cy="5400675"/>
          </a:xfrm>
        </p:grpSpPr>
        <p:sp>
          <p:nvSpPr>
            <p:cNvPr id="9" name="Rectangle 2">
              <a:extLst>
                <a:ext uri="{FF2B5EF4-FFF2-40B4-BE49-F238E27FC236}">
                  <a16:creationId xmlns:a16="http://schemas.microsoft.com/office/drawing/2014/main" id="{1C521A48-57AB-DE34-5319-51ABBC8125FC}"/>
                </a:ext>
              </a:extLst>
            </p:cNvPr>
            <p:cNvSpPr txBox="1">
              <a:spLocks noChangeArrowheads="1"/>
            </p:cNvSpPr>
            <p:nvPr/>
          </p:nvSpPr>
          <p:spPr>
            <a:xfrm>
              <a:off x="1371600" y="1000125"/>
              <a:ext cx="7620000" cy="685800"/>
            </a:xfrm>
            <a:prstGeom prst="rect">
              <a:avLst/>
            </a:prstGeom>
          </p:spPr>
          <p:txBody>
            <a:bodyPr/>
            <a:lstStyle>
              <a:lvl1pPr marL="0" marR="0" indent="0" algn="ctr" rtl="0" hangingPunct="1">
                <a:lnSpc>
                  <a:spcPct val="100000"/>
                </a:lnSpc>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en-US" sz="3200" b="1" i="0" u="none" strike="noStrike" baseline="0">
                  <a:ln>
                    <a:noFill/>
                  </a:ln>
                  <a:solidFill>
                    <a:srgbClr val="103566"/>
                  </a:solidFill>
                  <a:latin typeface="Arial" pitchFamily="34"/>
                </a:defRPr>
              </a:lvl1pPr>
            </a:lstStyle>
            <a:p>
              <a:endParaRPr lang="en-AU" altLang="en-US" kern="0" dirty="0">
                <a:latin typeface="Calibri" panose="020F0502020204030204" pitchFamily="34" charset="0"/>
                <a:cs typeface="Calibri" panose="020F0502020204030204" pitchFamily="34" charset="0"/>
              </a:endParaRPr>
            </a:p>
          </p:txBody>
        </p:sp>
        <p:sp>
          <p:nvSpPr>
            <p:cNvPr id="10" name="Line 3">
              <a:extLst>
                <a:ext uri="{FF2B5EF4-FFF2-40B4-BE49-F238E27FC236}">
                  <a16:creationId xmlns:a16="http://schemas.microsoft.com/office/drawing/2014/main" id="{FE14E8EC-CD41-BC59-6D6C-DB2B6696FAD8}"/>
                </a:ext>
              </a:extLst>
            </p:cNvPr>
            <p:cNvSpPr>
              <a:spLocks noChangeShapeType="1"/>
            </p:cNvSpPr>
            <p:nvPr/>
          </p:nvSpPr>
          <p:spPr bwMode="auto">
            <a:xfrm flipV="1">
              <a:off x="2252663" y="2066925"/>
              <a:ext cx="0" cy="3810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4">
              <a:extLst>
                <a:ext uri="{FF2B5EF4-FFF2-40B4-BE49-F238E27FC236}">
                  <a16:creationId xmlns:a16="http://schemas.microsoft.com/office/drawing/2014/main" id="{C1244CB3-C3B3-3BDF-7893-AB791582D096}"/>
                </a:ext>
              </a:extLst>
            </p:cNvPr>
            <p:cNvSpPr>
              <a:spLocks noChangeShapeType="1"/>
            </p:cNvSpPr>
            <p:nvPr/>
          </p:nvSpPr>
          <p:spPr bwMode="auto">
            <a:xfrm>
              <a:off x="2252663" y="5876925"/>
              <a:ext cx="64770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5">
              <a:extLst>
                <a:ext uri="{FF2B5EF4-FFF2-40B4-BE49-F238E27FC236}">
                  <a16:creationId xmlns:a16="http://schemas.microsoft.com/office/drawing/2014/main" id="{8C3C074E-271E-AAFF-B6D2-3CFDDAD196E9}"/>
                </a:ext>
              </a:extLst>
            </p:cNvPr>
            <p:cNvSpPr txBox="1">
              <a:spLocks noChangeArrowheads="1"/>
            </p:cNvSpPr>
            <p:nvPr/>
          </p:nvSpPr>
          <p:spPr bwMode="auto">
            <a:xfrm>
              <a:off x="4257675" y="5938838"/>
              <a:ext cx="2159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spcBef>
                  <a:spcPct val="50000"/>
                </a:spcBef>
                <a:buClr>
                  <a:schemeClr val="accent1"/>
                </a:buClr>
                <a:buSzPct val="90000"/>
                <a:buFont typeface="Monotype Sorts" pitchFamily="2" charset="2"/>
                <a:buNone/>
              </a:pPr>
              <a:r>
                <a:rPr kumimoji="1" lang="en-US" altLang="en-US" sz="2400">
                  <a:latin typeface="Calibri" panose="020F0502020204030204" pitchFamily="34" charset="0"/>
                  <a:cs typeface="Calibri" panose="020F0502020204030204" pitchFamily="34" charset="0"/>
                </a:rPr>
                <a:t>Depth along ray</a:t>
              </a:r>
              <a:endParaRPr kumimoji="1" lang="en-US" altLang="en-US" sz="2400" b="1" u="sng">
                <a:latin typeface="Calibri" panose="020F0502020204030204" pitchFamily="34" charset="0"/>
                <a:cs typeface="Calibri" panose="020F0502020204030204" pitchFamily="34" charset="0"/>
              </a:endParaRPr>
            </a:p>
          </p:txBody>
        </p:sp>
        <p:sp>
          <p:nvSpPr>
            <p:cNvPr id="13" name="Text Box 6">
              <a:extLst>
                <a:ext uri="{FF2B5EF4-FFF2-40B4-BE49-F238E27FC236}">
                  <a16:creationId xmlns:a16="http://schemas.microsoft.com/office/drawing/2014/main" id="{A3D66D0D-A435-ED88-0D6B-99E81CB2B3FD}"/>
                </a:ext>
              </a:extLst>
            </p:cNvPr>
            <p:cNvSpPr txBox="1">
              <a:spLocks noChangeArrowheads="1"/>
            </p:cNvSpPr>
            <p:nvPr/>
          </p:nvSpPr>
          <p:spPr bwMode="auto">
            <a:xfrm rot="16200000">
              <a:off x="1229519" y="3690144"/>
              <a:ext cx="12684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spcBef>
                  <a:spcPct val="50000"/>
                </a:spcBef>
                <a:buClr>
                  <a:schemeClr val="accent1"/>
                </a:buClr>
                <a:buSzPct val="90000"/>
                <a:buFont typeface="Monotype Sorts" pitchFamily="2" charset="2"/>
                <a:buNone/>
              </a:pPr>
              <a:r>
                <a:rPr kumimoji="1" lang="en-US" altLang="en-US" sz="2400">
                  <a:latin typeface="Calibri" panose="020F0502020204030204" pitchFamily="34" charset="0"/>
                  <a:cs typeface="Calibri" panose="020F0502020204030204" pitchFamily="34" charset="0"/>
                </a:rPr>
                <a:t>Intensity</a:t>
              </a:r>
              <a:endParaRPr kumimoji="1" lang="en-US" altLang="en-US" sz="2400" b="1" u="sng">
                <a:latin typeface="Calibri" panose="020F0502020204030204" pitchFamily="34" charset="0"/>
                <a:cs typeface="Calibri" panose="020F0502020204030204" pitchFamily="34" charset="0"/>
              </a:endParaRPr>
            </a:p>
          </p:txBody>
        </p:sp>
        <p:sp>
          <p:nvSpPr>
            <p:cNvPr id="14" name="Freeform 7">
              <a:extLst>
                <a:ext uri="{FF2B5EF4-FFF2-40B4-BE49-F238E27FC236}">
                  <a16:creationId xmlns:a16="http://schemas.microsoft.com/office/drawing/2014/main" id="{9C2A5C24-9362-FE28-ED4B-4F3BBD946BDA}"/>
                </a:ext>
              </a:extLst>
            </p:cNvPr>
            <p:cNvSpPr>
              <a:spLocks/>
            </p:cNvSpPr>
            <p:nvPr/>
          </p:nvSpPr>
          <p:spPr bwMode="auto">
            <a:xfrm>
              <a:off x="2252663" y="2270125"/>
              <a:ext cx="6019800" cy="3606800"/>
            </a:xfrm>
            <a:custGeom>
              <a:avLst/>
              <a:gdLst>
                <a:gd name="T0" fmla="*/ 0 w 3792"/>
                <a:gd name="T1" fmla="*/ 2147483646 h 2272"/>
                <a:gd name="T2" fmla="*/ 2147483646 w 3792"/>
                <a:gd name="T3" fmla="*/ 2147483646 h 2272"/>
                <a:gd name="T4" fmla="*/ 2147483646 w 3792"/>
                <a:gd name="T5" fmla="*/ 2147483646 h 2272"/>
                <a:gd name="T6" fmla="*/ 2147483646 w 3792"/>
                <a:gd name="T7" fmla="*/ 2147483646 h 2272"/>
                <a:gd name="T8" fmla="*/ 2147483646 w 3792"/>
                <a:gd name="T9" fmla="*/ 2147483646 h 2272"/>
                <a:gd name="T10" fmla="*/ 2147483646 w 3792"/>
                <a:gd name="T11" fmla="*/ 2147483646 h 2272"/>
                <a:gd name="T12" fmla="*/ 2147483646 w 3792"/>
                <a:gd name="T13" fmla="*/ 2147483646 h 2272"/>
                <a:gd name="T14" fmla="*/ 2147483646 w 3792"/>
                <a:gd name="T15" fmla="*/ 2147483646 h 2272"/>
                <a:gd name="T16" fmla="*/ 2147483646 w 3792"/>
                <a:gd name="T17" fmla="*/ 2147483646 h 2272"/>
                <a:gd name="T18" fmla="*/ 2147483646 w 3792"/>
                <a:gd name="T19" fmla="*/ 2147483646 h 2272"/>
                <a:gd name="T20" fmla="*/ 2147483646 w 3792"/>
                <a:gd name="T21" fmla="*/ 2147483646 h 2272"/>
                <a:gd name="T22" fmla="*/ 2147483646 w 3792"/>
                <a:gd name="T23" fmla="*/ 2147483646 h 2272"/>
                <a:gd name="T24" fmla="*/ 2147483646 w 3792"/>
                <a:gd name="T25" fmla="*/ 2147483646 h 2272"/>
                <a:gd name="T26" fmla="*/ 2147483646 w 3792"/>
                <a:gd name="T27" fmla="*/ 2147483646 h 2272"/>
                <a:gd name="T28" fmla="*/ 2147483646 w 3792"/>
                <a:gd name="T29" fmla="*/ 2147483646 h 2272"/>
                <a:gd name="T30" fmla="*/ 2147483646 w 3792"/>
                <a:gd name="T31" fmla="*/ 2147483646 h 2272"/>
                <a:gd name="T32" fmla="*/ 2147483646 w 3792"/>
                <a:gd name="T33" fmla="*/ 2147483646 h 2272"/>
                <a:gd name="T34" fmla="*/ 2147483646 w 3792"/>
                <a:gd name="T35" fmla="*/ 2147483646 h 2272"/>
                <a:gd name="T36" fmla="*/ 2147483646 w 3792"/>
                <a:gd name="T37" fmla="*/ 2147483646 h 2272"/>
                <a:gd name="T38" fmla="*/ 2147483646 w 3792"/>
                <a:gd name="T39" fmla="*/ 2147483646 h 2272"/>
                <a:gd name="T40" fmla="*/ 2147483646 w 3792"/>
                <a:gd name="T41" fmla="*/ 2147483646 h 2272"/>
                <a:gd name="T42" fmla="*/ 2147483646 w 3792"/>
                <a:gd name="T43" fmla="*/ 2147483646 h 2272"/>
                <a:gd name="T44" fmla="*/ 2147483646 w 3792"/>
                <a:gd name="T45" fmla="*/ 2147483646 h 2272"/>
                <a:gd name="T46" fmla="*/ 2147483646 w 3792"/>
                <a:gd name="T47" fmla="*/ 2147483646 h 2272"/>
                <a:gd name="T48" fmla="*/ 2147483646 w 3792"/>
                <a:gd name="T49" fmla="*/ 2147483646 h 2272"/>
                <a:gd name="T50" fmla="*/ 2147483646 w 3792"/>
                <a:gd name="T51" fmla="*/ 2147483646 h 2272"/>
                <a:gd name="T52" fmla="*/ 2147483646 w 3792"/>
                <a:gd name="T53" fmla="*/ 2147483646 h 2272"/>
                <a:gd name="T54" fmla="*/ 2147483646 w 3792"/>
                <a:gd name="T55" fmla="*/ 2147483646 h 2272"/>
                <a:gd name="T56" fmla="*/ 2147483646 w 3792"/>
                <a:gd name="T57" fmla="*/ 2147483646 h 2272"/>
                <a:gd name="T58" fmla="*/ 2147483646 w 3792"/>
                <a:gd name="T59" fmla="*/ 2147483646 h 2272"/>
                <a:gd name="T60" fmla="*/ 2147483646 w 3792"/>
                <a:gd name="T61" fmla="*/ 2147483646 h 2272"/>
                <a:gd name="T62" fmla="*/ 2147483646 w 3792"/>
                <a:gd name="T63" fmla="*/ 2147483646 h 2272"/>
                <a:gd name="T64" fmla="*/ 2147483646 w 3792"/>
                <a:gd name="T65" fmla="*/ 2147483646 h 2272"/>
                <a:gd name="T66" fmla="*/ 2147483646 w 3792"/>
                <a:gd name="T67" fmla="*/ 2147483646 h 2272"/>
                <a:gd name="T68" fmla="*/ 2147483646 w 3792"/>
                <a:gd name="T69" fmla="*/ 2147483646 h 2272"/>
                <a:gd name="T70" fmla="*/ 2147483646 w 3792"/>
                <a:gd name="T71" fmla="*/ 2147483646 h 2272"/>
                <a:gd name="T72" fmla="*/ 2147483646 w 3792"/>
                <a:gd name="T73" fmla="*/ 2147483646 h 2272"/>
                <a:gd name="T74" fmla="*/ 2147483646 w 3792"/>
                <a:gd name="T75" fmla="*/ 2147483646 h 2272"/>
                <a:gd name="T76" fmla="*/ 2147483646 w 3792"/>
                <a:gd name="T77" fmla="*/ 2147483646 h 2272"/>
                <a:gd name="T78" fmla="*/ 2147483646 w 3792"/>
                <a:gd name="T79" fmla="*/ 2147483646 h 2272"/>
                <a:gd name="T80" fmla="*/ 2147483646 w 3792"/>
                <a:gd name="T81" fmla="*/ 2147483646 h 227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792"/>
                <a:gd name="T124" fmla="*/ 0 h 2272"/>
                <a:gd name="T125" fmla="*/ 3792 w 3792"/>
                <a:gd name="T126" fmla="*/ 2272 h 227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792" h="2272">
                  <a:moveTo>
                    <a:pt x="0" y="2272"/>
                  </a:moveTo>
                  <a:cubicBezTo>
                    <a:pt x="68" y="2248"/>
                    <a:pt x="136" y="2224"/>
                    <a:pt x="192" y="2176"/>
                  </a:cubicBezTo>
                  <a:cubicBezTo>
                    <a:pt x="248" y="2128"/>
                    <a:pt x="304" y="2040"/>
                    <a:pt x="336" y="1984"/>
                  </a:cubicBezTo>
                  <a:cubicBezTo>
                    <a:pt x="368" y="1928"/>
                    <a:pt x="360" y="1864"/>
                    <a:pt x="384" y="1840"/>
                  </a:cubicBezTo>
                  <a:cubicBezTo>
                    <a:pt x="408" y="1816"/>
                    <a:pt x="456" y="1816"/>
                    <a:pt x="480" y="1840"/>
                  </a:cubicBezTo>
                  <a:cubicBezTo>
                    <a:pt x="504" y="1864"/>
                    <a:pt x="504" y="1936"/>
                    <a:pt x="528" y="1984"/>
                  </a:cubicBezTo>
                  <a:cubicBezTo>
                    <a:pt x="552" y="2032"/>
                    <a:pt x="584" y="2096"/>
                    <a:pt x="624" y="2128"/>
                  </a:cubicBezTo>
                  <a:cubicBezTo>
                    <a:pt x="664" y="2160"/>
                    <a:pt x="712" y="2168"/>
                    <a:pt x="768" y="2176"/>
                  </a:cubicBezTo>
                  <a:cubicBezTo>
                    <a:pt x="824" y="2184"/>
                    <a:pt x="912" y="2208"/>
                    <a:pt x="960" y="2176"/>
                  </a:cubicBezTo>
                  <a:cubicBezTo>
                    <a:pt x="1008" y="2144"/>
                    <a:pt x="1024" y="2152"/>
                    <a:pt x="1056" y="1984"/>
                  </a:cubicBezTo>
                  <a:cubicBezTo>
                    <a:pt x="1088" y="1816"/>
                    <a:pt x="1128" y="1384"/>
                    <a:pt x="1152" y="1168"/>
                  </a:cubicBezTo>
                  <a:cubicBezTo>
                    <a:pt x="1176" y="952"/>
                    <a:pt x="1184" y="760"/>
                    <a:pt x="1200" y="688"/>
                  </a:cubicBezTo>
                  <a:cubicBezTo>
                    <a:pt x="1216" y="616"/>
                    <a:pt x="1232" y="704"/>
                    <a:pt x="1248" y="736"/>
                  </a:cubicBezTo>
                  <a:cubicBezTo>
                    <a:pt x="1264" y="768"/>
                    <a:pt x="1288" y="824"/>
                    <a:pt x="1296" y="880"/>
                  </a:cubicBezTo>
                  <a:cubicBezTo>
                    <a:pt x="1304" y="936"/>
                    <a:pt x="1288" y="1008"/>
                    <a:pt x="1296" y="1072"/>
                  </a:cubicBezTo>
                  <a:cubicBezTo>
                    <a:pt x="1304" y="1136"/>
                    <a:pt x="1320" y="1216"/>
                    <a:pt x="1344" y="1264"/>
                  </a:cubicBezTo>
                  <a:cubicBezTo>
                    <a:pt x="1368" y="1312"/>
                    <a:pt x="1392" y="1344"/>
                    <a:pt x="1440" y="1360"/>
                  </a:cubicBezTo>
                  <a:cubicBezTo>
                    <a:pt x="1488" y="1376"/>
                    <a:pt x="1600" y="1392"/>
                    <a:pt x="1632" y="1360"/>
                  </a:cubicBezTo>
                  <a:cubicBezTo>
                    <a:pt x="1664" y="1328"/>
                    <a:pt x="1624" y="1272"/>
                    <a:pt x="1632" y="1168"/>
                  </a:cubicBezTo>
                  <a:cubicBezTo>
                    <a:pt x="1640" y="1064"/>
                    <a:pt x="1664" y="880"/>
                    <a:pt x="1680" y="736"/>
                  </a:cubicBezTo>
                  <a:cubicBezTo>
                    <a:pt x="1696" y="592"/>
                    <a:pt x="1704" y="424"/>
                    <a:pt x="1728" y="304"/>
                  </a:cubicBezTo>
                  <a:cubicBezTo>
                    <a:pt x="1752" y="184"/>
                    <a:pt x="1784" y="32"/>
                    <a:pt x="1824" y="16"/>
                  </a:cubicBezTo>
                  <a:cubicBezTo>
                    <a:pt x="1864" y="0"/>
                    <a:pt x="1928" y="112"/>
                    <a:pt x="1968" y="208"/>
                  </a:cubicBezTo>
                  <a:cubicBezTo>
                    <a:pt x="2008" y="304"/>
                    <a:pt x="2040" y="488"/>
                    <a:pt x="2064" y="592"/>
                  </a:cubicBezTo>
                  <a:cubicBezTo>
                    <a:pt x="2088" y="696"/>
                    <a:pt x="2088" y="736"/>
                    <a:pt x="2112" y="832"/>
                  </a:cubicBezTo>
                  <a:cubicBezTo>
                    <a:pt x="2136" y="928"/>
                    <a:pt x="2184" y="1024"/>
                    <a:pt x="2208" y="1168"/>
                  </a:cubicBezTo>
                  <a:cubicBezTo>
                    <a:pt x="2232" y="1312"/>
                    <a:pt x="2224" y="1568"/>
                    <a:pt x="2256" y="1696"/>
                  </a:cubicBezTo>
                  <a:cubicBezTo>
                    <a:pt x="2288" y="1824"/>
                    <a:pt x="2352" y="1888"/>
                    <a:pt x="2400" y="1936"/>
                  </a:cubicBezTo>
                  <a:cubicBezTo>
                    <a:pt x="2448" y="1984"/>
                    <a:pt x="2496" y="1984"/>
                    <a:pt x="2544" y="1984"/>
                  </a:cubicBezTo>
                  <a:cubicBezTo>
                    <a:pt x="2592" y="1984"/>
                    <a:pt x="2656" y="1968"/>
                    <a:pt x="2688" y="1936"/>
                  </a:cubicBezTo>
                  <a:cubicBezTo>
                    <a:pt x="2720" y="1904"/>
                    <a:pt x="2728" y="1904"/>
                    <a:pt x="2736" y="1792"/>
                  </a:cubicBezTo>
                  <a:cubicBezTo>
                    <a:pt x="2744" y="1680"/>
                    <a:pt x="2712" y="1344"/>
                    <a:pt x="2736" y="1264"/>
                  </a:cubicBezTo>
                  <a:cubicBezTo>
                    <a:pt x="2760" y="1184"/>
                    <a:pt x="2840" y="1272"/>
                    <a:pt x="2880" y="1312"/>
                  </a:cubicBezTo>
                  <a:cubicBezTo>
                    <a:pt x="2920" y="1352"/>
                    <a:pt x="2936" y="1480"/>
                    <a:pt x="2976" y="1504"/>
                  </a:cubicBezTo>
                  <a:cubicBezTo>
                    <a:pt x="3016" y="1528"/>
                    <a:pt x="3072" y="1552"/>
                    <a:pt x="3120" y="1456"/>
                  </a:cubicBezTo>
                  <a:cubicBezTo>
                    <a:pt x="3168" y="1360"/>
                    <a:pt x="3232" y="1072"/>
                    <a:pt x="3264" y="928"/>
                  </a:cubicBezTo>
                  <a:cubicBezTo>
                    <a:pt x="3296" y="784"/>
                    <a:pt x="3296" y="656"/>
                    <a:pt x="3312" y="592"/>
                  </a:cubicBezTo>
                  <a:cubicBezTo>
                    <a:pt x="3328" y="528"/>
                    <a:pt x="3336" y="528"/>
                    <a:pt x="3360" y="544"/>
                  </a:cubicBezTo>
                  <a:cubicBezTo>
                    <a:pt x="3384" y="560"/>
                    <a:pt x="3416" y="600"/>
                    <a:pt x="3456" y="688"/>
                  </a:cubicBezTo>
                  <a:cubicBezTo>
                    <a:pt x="3496" y="776"/>
                    <a:pt x="3544" y="1000"/>
                    <a:pt x="3600" y="1072"/>
                  </a:cubicBezTo>
                  <a:cubicBezTo>
                    <a:pt x="3656" y="1144"/>
                    <a:pt x="3724" y="1132"/>
                    <a:pt x="3792" y="1120"/>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Line 8">
              <a:extLst>
                <a:ext uri="{FF2B5EF4-FFF2-40B4-BE49-F238E27FC236}">
                  <a16:creationId xmlns:a16="http://schemas.microsoft.com/office/drawing/2014/main" id="{EFBD61EE-59FB-3A92-AF1C-D8E4F22D50D8}"/>
                </a:ext>
              </a:extLst>
            </p:cNvPr>
            <p:cNvSpPr>
              <a:spLocks noChangeShapeType="1"/>
            </p:cNvSpPr>
            <p:nvPr/>
          </p:nvSpPr>
          <p:spPr bwMode="auto">
            <a:xfrm>
              <a:off x="2252663" y="2265363"/>
              <a:ext cx="28956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9">
              <a:extLst>
                <a:ext uri="{FF2B5EF4-FFF2-40B4-BE49-F238E27FC236}">
                  <a16:creationId xmlns:a16="http://schemas.microsoft.com/office/drawing/2014/main" id="{9EF0C18B-73BE-AB5E-E8EB-16CD38436401}"/>
                </a:ext>
              </a:extLst>
            </p:cNvPr>
            <p:cNvSpPr>
              <a:spLocks noChangeShapeType="1"/>
            </p:cNvSpPr>
            <p:nvPr/>
          </p:nvSpPr>
          <p:spPr bwMode="auto">
            <a:xfrm>
              <a:off x="2252663" y="4117975"/>
              <a:ext cx="6477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0">
              <a:extLst>
                <a:ext uri="{FF2B5EF4-FFF2-40B4-BE49-F238E27FC236}">
                  <a16:creationId xmlns:a16="http://schemas.microsoft.com/office/drawing/2014/main" id="{798606DA-B254-137E-A655-E1C2333C305F}"/>
                </a:ext>
              </a:extLst>
            </p:cNvPr>
            <p:cNvSpPr>
              <a:spLocks noChangeShapeType="1"/>
            </p:cNvSpPr>
            <p:nvPr/>
          </p:nvSpPr>
          <p:spPr bwMode="auto">
            <a:xfrm>
              <a:off x="2252663" y="4752975"/>
              <a:ext cx="641985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Text Box 12">
              <a:extLst>
                <a:ext uri="{FF2B5EF4-FFF2-40B4-BE49-F238E27FC236}">
                  <a16:creationId xmlns:a16="http://schemas.microsoft.com/office/drawing/2014/main" id="{DF767878-0B40-A743-1E64-9F2B2A822C5C}"/>
                </a:ext>
              </a:extLst>
            </p:cNvPr>
            <p:cNvSpPr txBox="1">
              <a:spLocks noChangeArrowheads="1"/>
            </p:cNvSpPr>
            <p:nvPr/>
          </p:nvSpPr>
          <p:spPr bwMode="auto">
            <a:xfrm>
              <a:off x="2481263" y="1876425"/>
              <a:ext cx="7254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spcBef>
                  <a:spcPct val="50000"/>
                </a:spcBef>
                <a:buClr>
                  <a:schemeClr val="accent1"/>
                </a:buClr>
                <a:buSzPct val="90000"/>
                <a:buFont typeface="Monotype Sorts" pitchFamily="2" charset="2"/>
                <a:buNone/>
              </a:pPr>
              <a:r>
                <a:rPr kumimoji="1" lang="en-US" altLang="en-US" sz="2400">
                  <a:latin typeface="Calibri" panose="020F0502020204030204" pitchFamily="34" charset="0"/>
                  <a:cs typeface="Calibri" panose="020F0502020204030204" pitchFamily="34" charset="0"/>
                </a:rPr>
                <a:t>Max</a:t>
              </a:r>
              <a:endParaRPr kumimoji="1" lang="en-US" altLang="en-US" sz="2400" b="1" u="sng">
                <a:latin typeface="Calibri" panose="020F0502020204030204" pitchFamily="34" charset="0"/>
                <a:cs typeface="Calibri" panose="020F0502020204030204" pitchFamily="34" charset="0"/>
              </a:endParaRPr>
            </a:p>
          </p:txBody>
        </p:sp>
        <p:sp>
          <p:nvSpPr>
            <p:cNvPr id="19" name="Text Box 13">
              <a:extLst>
                <a:ext uri="{FF2B5EF4-FFF2-40B4-BE49-F238E27FC236}">
                  <a16:creationId xmlns:a16="http://schemas.microsoft.com/office/drawing/2014/main" id="{BDAA3D71-FCA8-31D5-D732-FDDEE7726E6E}"/>
                </a:ext>
              </a:extLst>
            </p:cNvPr>
            <p:cNvSpPr txBox="1">
              <a:spLocks noChangeArrowheads="1"/>
            </p:cNvSpPr>
            <p:nvPr/>
          </p:nvSpPr>
          <p:spPr bwMode="auto">
            <a:xfrm>
              <a:off x="2411413" y="3629025"/>
              <a:ext cx="1190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spcBef>
                  <a:spcPct val="50000"/>
                </a:spcBef>
                <a:buClr>
                  <a:schemeClr val="accent1"/>
                </a:buClr>
                <a:buSzPct val="90000"/>
                <a:buFont typeface="Monotype Sorts" pitchFamily="2" charset="2"/>
                <a:buNone/>
              </a:pPr>
              <a:r>
                <a:rPr kumimoji="1" lang="en-US" altLang="en-US" sz="2400">
                  <a:latin typeface="Calibri" panose="020F0502020204030204" pitchFamily="34" charset="0"/>
                  <a:cs typeface="Calibri" panose="020F0502020204030204" pitchFamily="34" charset="0"/>
                </a:rPr>
                <a:t>Average</a:t>
              </a:r>
              <a:endParaRPr kumimoji="1" lang="en-US" altLang="en-US" sz="2400" b="1" u="sng">
                <a:latin typeface="Calibri" panose="020F0502020204030204" pitchFamily="34" charset="0"/>
                <a:cs typeface="Calibri" panose="020F0502020204030204" pitchFamily="34" charset="0"/>
              </a:endParaRPr>
            </a:p>
          </p:txBody>
        </p:sp>
        <p:sp>
          <p:nvSpPr>
            <p:cNvPr id="20" name="Text Box 14">
              <a:extLst>
                <a:ext uri="{FF2B5EF4-FFF2-40B4-BE49-F238E27FC236}">
                  <a16:creationId xmlns:a16="http://schemas.microsoft.com/office/drawing/2014/main" id="{7822638D-8CF6-00F9-8F09-80EA071EA488}"/>
                </a:ext>
              </a:extLst>
            </p:cNvPr>
            <p:cNvSpPr txBox="1">
              <a:spLocks noChangeArrowheads="1"/>
            </p:cNvSpPr>
            <p:nvPr/>
          </p:nvSpPr>
          <p:spPr bwMode="auto">
            <a:xfrm>
              <a:off x="2481263" y="4346575"/>
              <a:ext cx="3405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spcBef>
                  <a:spcPct val="50000"/>
                </a:spcBef>
                <a:buClr>
                  <a:schemeClr val="accent1"/>
                </a:buClr>
                <a:buSzPct val="90000"/>
                <a:buFont typeface="Monotype Sorts" pitchFamily="2" charset="2"/>
                <a:buNone/>
              </a:pPr>
              <a:r>
                <a:rPr kumimoji="1" lang="en-US" altLang="en-US" sz="2400" dirty="0">
                  <a:latin typeface="Calibri" panose="020F0502020204030204" pitchFamily="34" charset="0"/>
                  <a:cs typeface="Calibri" panose="020F0502020204030204" pitchFamily="34" charset="0"/>
                </a:rPr>
                <a:t>Accumulate or Composite</a:t>
              </a:r>
              <a:endParaRPr kumimoji="1" lang="en-US" altLang="en-US" sz="2400" b="1" u="sng"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362409969"/>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A compositing, ray casting volume render</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p:txBody>
          <a:bodyPr>
            <a:normAutofit/>
          </a:bodyPr>
          <a:lstStyle/>
          <a:p>
            <a:pPr marL="0" indent="0">
              <a:buNone/>
            </a:pPr>
            <a:r>
              <a:rPr lang="en-US" sz="1800" dirty="0"/>
              <a:t>We will now develop another volume rendering of the MRI data. This time, we will composite the final rendered image.</a:t>
            </a:r>
          </a:p>
          <a:p>
            <a:pPr marL="0" indent="0">
              <a:buNone/>
            </a:pPr>
            <a:r>
              <a:rPr lang="en-US" sz="1800" dirty="0"/>
              <a:t>In order to composite an image, we need to “light” the volume. That is, we need to associate a </a:t>
            </a:r>
            <a:r>
              <a:rPr lang="en-US" sz="1800" dirty="0" err="1"/>
              <a:t>colour</a:t>
            </a:r>
            <a:r>
              <a:rPr lang="en-US" sz="1800" dirty="0"/>
              <a:t> (grey scale in this case) and opacity value at each point in the volume. </a:t>
            </a:r>
          </a:p>
          <a:p>
            <a:pPr marL="0" indent="0">
              <a:buNone/>
            </a:pPr>
            <a:r>
              <a:rPr lang="en-US" sz="1800" dirty="0"/>
              <a:t>Two simple transfer functions will do this:</a:t>
            </a:r>
          </a:p>
          <a:p>
            <a:pPr marL="0" indent="0">
              <a:buNone/>
            </a:pPr>
            <a:r>
              <a:rPr lang="en-US" sz="1800" i="1" dirty="0"/>
              <a:t>alpha(</a:t>
            </a:r>
            <a:r>
              <a:rPr lang="en-US" sz="1800" i="1" dirty="0" err="1"/>
              <a:t>x,y,z</a:t>
            </a:r>
            <a:r>
              <a:rPr lang="en-US" sz="1800" i="1" dirty="0"/>
              <a:t>) = Di(</a:t>
            </a:r>
            <a:r>
              <a:rPr lang="en-US" sz="1800" i="1" dirty="0" err="1"/>
              <a:t>x,y,z</a:t>
            </a:r>
            <a:r>
              <a:rPr lang="en-US" sz="1800" i="1" dirty="0"/>
              <a:t>)/</a:t>
            </a:r>
            <a:r>
              <a:rPr lang="en-US" sz="1800" i="1" dirty="0" err="1"/>
              <a:t>maxDi</a:t>
            </a:r>
            <a:r>
              <a:rPr lang="en-US" sz="1800" dirty="0"/>
              <a:t>,  where, </a:t>
            </a:r>
            <a:r>
              <a:rPr lang="en-US" sz="1800" i="1" dirty="0" err="1"/>
              <a:t>maxDi</a:t>
            </a:r>
            <a:r>
              <a:rPr lang="en-US" sz="1800" dirty="0"/>
              <a:t> is the maximum value in the volume.</a:t>
            </a:r>
          </a:p>
          <a:p>
            <a:pPr marL="0" indent="0">
              <a:buNone/>
            </a:pPr>
            <a:r>
              <a:rPr lang="en-US" sz="1800" i="1" dirty="0"/>
              <a:t>C(</a:t>
            </a:r>
            <a:r>
              <a:rPr lang="en-US" sz="1800" i="1" dirty="0" err="1"/>
              <a:t>x,y,z</a:t>
            </a:r>
            <a:r>
              <a:rPr lang="en-US" sz="1800" i="1" dirty="0"/>
              <a:t>) = Di(</a:t>
            </a:r>
            <a:r>
              <a:rPr lang="en-US" sz="1800" i="1" dirty="0" err="1"/>
              <a:t>x,y,z</a:t>
            </a:r>
            <a:r>
              <a:rPr lang="en-US" sz="1800" i="1" dirty="0"/>
              <a:t>)</a:t>
            </a:r>
            <a:r>
              <a:rPr lang="en-US" sz="1800" dirty="0"/>
              <a:t>, that is, grey </a:t>
            </a:r>
            <a:r>
              <a:rPr lang="en-US" sz="1800" dirty="0" err="1"/>
              <a:t>colour</a:t>
            </a:r>
            <a:r>
              <a:rPr lang="en-US" sz="1800" dirty="0"/>
              <a:t> intensity equals the volume data.</a:t>
            </a:r>
          </a:p>
          <a:p>
            <a:pPr marL="0" indent="0">
              <a:buNone/>
            </a:pPr>
            <a:r>
              <a:rPr lang="en-US" sz="1800" dirty="0"/>
              <a:t>Using the transfer functions defined above for the volume </a:t>
            </a:r>
            <a:r>
              <a:rPr lang="en-US" sz="1800" i="1" dirty="0"/>
              <a:t>Di</a:t>
            </a:r>
            <a:r>
              <a:rPr lang="en-US" sz="1800" dirty="0"/>
              <a:t>, write a compositing version of your volume renderer using front-to-back compositing (see next slide).</a:t>
            </a:r>
          </a:p>
          <a:p>
            <a:pPr marL="0" indent="0">
              <a:buNone/>
            </a:pPr>
            <a:r>
              <a:rPr lang="en-US" sz="1800" dirty="0"/>
              <a:t>Generate a composited volume rendering of the aneurism scan.</a:t>
            </a:r>
          </a:p>
        </p:txBody>
      </p:sp>
    </p:spTree>
    <p:extLst>
      <p:ext uri="{BB962C8B-B14F-4D97-AF65-F5344CB8AC3E}">
        <p14:creationId xmlns:p14="http://schemas.microsoft.com/office/powerpoint/2010/main" val="290745852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A compositing, ray casting volume render </a:t>
            </a:r>
            <a:r>
              <a:rPr lang="en-US" sz="4400" dirty="0"/>
              <a:t>(continued)</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11232000" cy="3960000"/>
          </a:xfrm>
        </p:spPr>
        <p:txBody>
          <a:bodyPr>
            <a:normAutofit/>
          </a:bodyPr>
          <a:lstStyle/>
          <a:p>
            <a:pPr marL="0" indent="0">
              <a:buNone/>
            </a:pPr>
            <a:r>
              <a:rPr lang="en-AU" altLang="en-US" sz="1800" b="1" dirty="0"/>
              <a:t>Classical Approach –	Front-to-back Compositing</a:t>
            </a:r>
            <a:endParaRPr lang="en-US" sz="1800" dirty="0"/>
          </a:p>
        </p:txBody>
      </p:sp>
      <p:grpSp>
        <p:nvGrpSpPr>
          <p:cNvPr id="2" name="Group 1">
            <a:extLst>
              <a:ext uri="{FF2B5EF4-FFF2-40B4-BE49-F238E27FC236}">
                <a16:creationId xmlns:a16="http://schemas.microsoft.com/office/drawing/2014/main" id="{EFC01C9C-4CF8-5B21-073B-980EA7A076C3}"/>
              </a:ext>
            </a:extLst>
          </p:cNvPr>
          <p:cNvGrpSpPr/>
          <p:nvPr/>
        </p:nvGrpSpPr>
        <p:grpSpPr>
          <a:xfrm>
            <a:off x="1222803" y="1225255"/>
            <a:ext cx="7686675" cy="4394085"/>
            <a:chOff x="1466850" y="1746250"/>
            <a:chExt cx="7686675" cy="4394085"/>
          </a:xfrm>
        </p:grpSpPr>
        <p:sp>
          <p:nvSpPr>
            <p:cNvPr id="4" name="Text Box 3">
              <a:extLst>
                <a:ext uri="{FF2B5EF4-FFF2-40B4-BE49-F238E27FC236}">
                  <a16:creationId xmlns:a16="http://schemas.microsoft.com/office/drawing/2014/main" id="{0837668D-661B-3CA1-A60A-910CC22636DC}"/>
                </a:ext>
              </a:extLst>
            </p:cNvPr>
            <p:cNvSpPr txBox="1">
              <a:spLocks noChangeArrowheads="1"/>
            </p:cNvSpPr>
            <p:nvPr/>
          </p:nvSpPr>
          <p:spPr bwMode="auto">
            <a:xfrm>
              <a:off x="1481138" y="1924050"/>
              <a:ext cx="76628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376488" indent="-2376488">
                <a:spcBef>
                  <a:spcPct val="20000"/>
                </a:spcBef>
                <a:buChar char="•"/>
                <a:defRPr sz="3200">
                  <a:solidFill>
                    <a:schemeClr val="tx1"/>
                  </a:solidFill>
                  <a:latin typeface="Arial" panose="020B0604020202020204" pitchFamily="34" charset="0"/>
                  <a:cs typeface="Arial" panose="020B0604020202020204" pitchFamily="34" charset="0"/>
                </a:defRPr>
              </a:lvl1pPr>
              <a:lvl2pPr marL="3024188" indent="-457200">
                <a:spcBef>
                  <a:spcPct val="20000"/>
                </a:spcBef>
                <a:buChar char="–"/>
                <a:defRPr sz="2800">
                  <a:solidFill>
                    <a:schemeClr val="tx1"/>
                  </a:solidFill>
                  <a:latin typeface="Arial" panose="020B0604020202020204" pitchFamily="34" charset="0"/>
                  <a:cs typeface="Arial" panose="020B0604020202020204" pitchFamily="34" charset="0"/>
                </a:defRPr>
              </a:lvl2pPr>
              <a:lvl3pPr marL="3671888" indent="-457200">
                <a:spcBef>
                  <a:spcPct val="20000"/>
                </a:spcBef>
                <a:buChar char="•"/>
                <a:defRPr sz="2400">
                  <a:solidFill>
                    <a:schemeClr val="tx1"/>
                  </a:solidFill>
                  <a:latin typeface="Arial" panose="020B0604020202020204" pitchFamily="34" charset="0"/>
                  <a:cs typeface="Arial" panose="020B0604020202020204" pitchFamily="34" charset="0"/>
                </a:defRPr>
              </a:lvl3pPr>
              <a:lvl4pPr marL="4319588" indent="-457200">
                <a:spcBef>
                  <a:spcPct val="20000"/>
                </a:spcBef>
                <a:buChar char="–"/>
                <a:defRPr sz="2000">
                  <a:solidFill>
                    <a:schemeClr val="tx1"/>
                  </a:solidFill>
                  <a:latin typeface="Arial" panose="020B0604020202020204" pitchFamily="34" charset="0"/>
                  <a:cs typeface="Arial" panose="020B0604020202020204" pitchFamily="34" charset="0"/>
                </a:defRPr>
              </a:lvl4pPr>
              <a:lvl5pPr marL="4967288" indent="-457200">
                <a:spcBef>
                  <a:spcPct val="20000"/>
                </a:spcBef>
                <a:buChar char="»"/>
                <a:defRPr>
                  <a:solidFill>
                    <a:schemeClr val="tx1"/>
                  </a:solidFill>
                  <a:latin typeface="Arial" panose="020B0604020202020204" pitchFamily="34" charset="0"/>
                  <a:cs typeface="Arial" panose="020B0604020202020204" pitchFamily="34" charset="0"/>
                </a:defRPr>
              </a:lvl5pPr>
              <a:lvl6pPr marL="5424488"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5881688"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6338888"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6796088"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spcBef>
                  <a:spcPct val="0"/>
                </a:spcBef>
                <a:buFontTx/>
                <a:buNone/>
              </a:pPr>
              <a:br>
                <a:rPr lang="en-AU" altLang="en-US" sz="2000" b="1" dirty="0">
                  <a:latin typeface="Garamond" panose="02020404030301010803" pitchFamily="18" charset="0"/>
                </a:rPr>
              </a:br>
              <a:endParaRPr lang="en-AU" altLang="en-US" sz="2000" b="1" dirty="0">
                <a:latin typeface="Garamond" panose="02020404030301010803" pitchFamily="18" charset="0"/>
              </a:endParaRPr>
            </a:p>
          </p:txBody>
        </p:sp>
        <p:sp>
          <p:nvSpPr>
            <p:cNvPr id="7" name="Text Box 4">
              <a:extLst>
                <a:ext uri="{FF2B5EF4-FFF2-40B4-BE49-F238E27FC236}">
                  <a16:creationId xmlns:a16="http://schemas.microsoft.com/office/drawing/2014/main" id="{809478D4-9D7F-75BC-F091-B9474D40D6AD}"/>
                </a:ext>
              </a:extLst>
            </p:cNvPr>
            <p:cNvSpPr txBox="1">
              <a:spLocks noChangeArrowheads="1"/>
            </p:cNvSpPr>
            <p:nvPr/>
          </p:nvSpPr>
          <p:spPr bwMode="auto">
            <a:xfrm>
              <a:off x="1466850" y="2617788"/>
              <a:ext cx="7686675" cy="1471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spcBef>
                  <a:spcPct val="20000"/>
                </a:spcBef>
                <a:buChar char="•"/>
                <a:defRPr sz="3200">
                  <a:solidFill>
                    <a:schemeClr val="tx1"/>
                  </a:solidFill>
                  <a:latin typeface="Arial" panose="020B0604020202020204" pitchFamily="34" charset="0"/>
                  <a:cs typeface="Arial" panose="020B0604020202020204" pitchFamily="34" charset="0"/>
                </a:defRPr>
              </a:lvl1pPr>
              <a:lvl2pPr marL="914400" indent="-457200">
                <a:spcBef>
                  <a:spcPct val="20000"/>
                </a:spcBef>
                <a:buChar char="–"/>
                <a:defRPr sz="2800">
                  <a:solidFill>
                    <a:schemeClr val="tx1"/>
                  </a:solidFill>
                  <a:latin typeface="Arial" panose="020B0604020202020204" pitchFamily="34" charset="0"/>
                  <a:cs typeface="Arial" panose="020B0604020202020204" pitchFamily="34" charset="0"/>
                </a:defRPr>
              </a:lvl2pPr>
              <a:lvl3pPr marL="1371600" indent="-457200">
                <a:spcBef>
                  <a:spcPct val="20000"/>
                </a:spcBef>
                <a:buChar char="•"/>
                <a:defRPr sz="2400">
                  <a:solidFill>
                    <a:schemeClr val="tx1"/>
                  </a:solidFill>
                  <a:latin typeface="Arial" panose="020B0604020202020204" pitchFamily="34" charset="0"/>
                  <a:cs typeface="Arial" panose="020B0604020202020204" pitchFamily="34" charset="0"/>
                </a:defRPr>
              </a:lvl3pPr>
              <a:lvl4pPr marL="1828800" indent="-457200">
                <a:spcBef>
                  <a:spcPct val="20000"/>
                </a:spcBef>
                <a:buChar char="–"/>
                <a:defRPr sz="2000">
                  <a:solidFill>
                    <a:schemeClr val="tx1"/>
                  </a:solidFill>
                  <a:latin typeface="Arial" panose="020B0604020202020204" pitchFamily="34" charset="0"/>
                  <a:cs typeface="Arial" panose="020B0604020202020204" pitchFamily="34" charset="0"/>
                </a:defRPr>
              </a:lvl4pPr>
              <a:lvl5pPr marL="2286000" indent="-457200">
                <a:spcBef>
                  <a:spcPct val="20000"/>
                </a:spcBef>
                <a:buChar char="»"/>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nSpc>
                  <a:spcPct val="80000"/>
                </a:lnSpc>
                <a:spcBef>
                  <a:spcPct val="0"/>
                </a:spcBef>
              </a:pPr>
              <a:r>
                <a:rPr lang="en-AU" altLang="en-US" sz="1600" dirty="0"/>
                <a:t>Approximation of volume rendering integral</a:t>
              </a:r>
              <a:br>
                <a:rPr lang="en-AU" altLang="en-US" sz="1600" dirty="0"/>
              </a:br>
              <a:br>
                <a:rPr lang="en-AU" altLang="en-US" sz="1600" dirty="0"/>
              </a:br>
              <a:br>
                <a:rPr lang="en-AU" altLang="en-US" sz="1600" dirty="0"/>
              </a:br>
              <a:br>
                <a:rPr lang="en-AU" altLang="en-US" sz="1600" dirty="0"/>
              </a:br>
              <a:br>
                <a:rPr lang="en-AU" altLang="en-US" sz="1600" dirty="0"/>
              </a:br>
              <a:endParaRPr lang="en-AU" altLang="en-US" sz="1600" dirty="0"/>
            </a:p>
            <a:p>
              <a:pPr>
                <a:lnSpc>
                  <a:spcPct val="80000"/>
                </a:lnSpc>
                <a:spcBef>
                  <a:spcPct val="0"/>
                </a:spcBef>
                <a:buFontTx/>
                <a:buNone/>
              </a:pPr>
              <a:r>
                <a:rPr lang="en-AU" altLang="en-US" sz="1600" dirty="0"/>
                <a:t>        is usually calculated using the recursive formulas:</a:t>
              </a:r>
            </a:p>
          </p:txBody>
        </p:sp>
        <p:grpSp>
          <p:nvGrpSpPr>
            <p:cNvPr id="8" name="Group 7">
              <a:extLst>
                <a:ext uri="{FF2B5EF4-FFF2-40B4-BE49-F238E27FC236}">
                  <a16:creationId xmlns:a16="http://schemas.microsoft.com/office/drawing/2014/main" id="{06456CAD-D44E-19F5-BA3C-44633D1A3903}"/>
                </a:ext>
              </a:extLst>
            </p:cNvPr>
            <p:cNvGrpSpPr>
              <a:grpSpLocks/>
            </p:cNvGrpSpPr>
            <p:nvPr/>
          </p:nvGrpSpPr>
          <p:grpSpPr bwMode="auto">
            <a:xfrm>
              <a:off x="7096125" y="2411413"/>
              <a:ext cx="1778000" cy="3200400"/>
              <a:chOff x="4493" y="1663"/>
              <a:chExt cx="1060" cy="2346"/>
            </a:xfrm>
          </p:grpSpPr>
          <p:sp>
            <p:nvSpPr>
              <p:cNvPr id="15" name="Rectangle 8">
                <a:extLst>
                  <a:ext uri="{FF2B5EF4-FFF2-40B4-BE49-F238E27FC236}">
                    <a16:creationId xmlns:a16="http://schemas.microsoft.com/office/drawing/2014/main" id="{918725E8-B017-C495-921C-4C8D7BB390F2}"/>
                  </a:ext>
                </a:extLst>
              </p:cNvPr>
              <p:cNvSpPr>
                <a:spLocks noChangeArrowheads="1"/>
              </p:cNvSpPr>
              <p:nvPr/>
            </p:nvSpPr>
            <p:spPr bwMode="auto">
              <a:xfrm>
                <a:off x="4495" y="2418"/>
                <a:ext cx="1058" cy="9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gn="ctr">
                  <a:spcBef>
                    <a:spcPct val="0"/>
                  </a:spcBef>
                  <a:buFontTx/>
                  <a:buNone/>
                </a:pPr>
                <a:endParaRPr lang="en-US" altLang="en-US" sz="2000">
                  <a:latin typeface="Garamond" panose="02020404030301010803" pitchFamily="18" charset="0"/>
                </a:endParaRPr>
              </a:p>
            </p:txBody>
          </p:sp>
          <p:sp>
            <p:nvSpPr>
              <p:cNvPr id="16" name="Line 9">
                <a:extLst>
                  <a:ext uri="{FF2B5EF4-FFF2-40B4-BE49-F238E27FC236}">
                    <a16:creationId xmlns:a16="http://schemas.microsoft.com/office/drawing/2014/main" id="{762A1A62-92B2-34F2-7C07-8F77262CD38A}"/>
                  </a:ext>
                </a:extLst>
              </p:cNvPr>
              <p:cNvSpPr>
                <a:spLocks noChangeShapeType="1"/>
              </p:cNvSpPr>
              <p:nvPr/>
            </p:nvSpPr>
            <p:spPr bwMode="auto">
              <a:xfrm>
                <a:off x="4872" y="1663"/>
                <a:ext cx="0" cy="7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0">
                <a:extLst>
                  <a:ext uri="{FF2B5EF4-FFF2-40B4-BE49-F238E27FC236}">
                    <a16:creationId xmlns:a16="http://schemas.microsoft.com/office/drawing/2014/main" id="{2EBB4696-ED35-D907-4868-506760606491}"/>
                  </a:ext>
                </a:extLst>
              </p:cNvPr>
              <p:cNvSpPr>
                <a:spLocks noChangeShapeType="1"/>
              </p:cNvSpPr>
              <p:nvPr/>
            </p:nvSpPr>
            <p:spPr bwMode="auto">
              <a:xfrm>
                <a:off x="5254" y="1673"/>
                <a:ext cx="0" cy="75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Text Box 11">
                <a:extLst>
                  <a:ext uri="{FF2B5EF4-FFF2-40B4-BE49-F238E27FC236}">
                    <a16:creationId xmlns:a16="http://schemas.microsoft.com/office/drawing/2014/main" id="{B018AC63-11D4-4185-D34F-B06B9648C47B}"/>
                  </a:ext>
                </a:extLst>
              </p:cNvPr>
              <p:cNvSpPr txBox="1">
                <a:spLocks noChangeArrowheads="1"/>
              </p:cNvSpPr>
              <p:nvPr/>
            </p:nvSpPr>
            <p:spPr bwMode="auto">
              <a:xfrm>
                <a:off x="4697" y="1848"/>
                <a:ext cx="294" cy="2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AU" altLang="en-US" sz="2000" b="1" i="1" dirty="0">
                    <a:latin typeface="Times New Roman" panose="02020603050405020304" pitchFamily="18" charset="0"/>
                  </a:rPr>
                  <a:t>C</a:t>
                </a:r>
                <a:r>
                  <a:rPr lang="en-AU" altLang="en-US" sz="2000" b="1" i="1" baseline="-25000" dirty="0">
                    <a:latin typeface="Times New Roman" panose="02020603050405020304" pitchFamily="18" charset="0"/>
                  </a:rPr>
                  <a:t>in</a:t>
                </a:r>
              </a:p>
            </p:txBody>
          </p:sp>
          <p:sp>
            <p:nvSpPr>
              <p:cNvPr id="19" name="Text Box 12">
                <a:extLst>
                  <a:ext uri="{FF2B5EF4-FFF2-40B4-BE49-F238E27FC236}">
                    <a16:creationId xmlns:a16="http://schemas.microsoft.com/office/drawing/2014/main" id="{DD832936-4C7B-BF6B-FF19-5827F0A24CD8}"/>
                  </a:ext>
                </a:extLst>
              </p:cNvPr>
              <p:cNvSpPr txBox="1">
                <a:spLocks noChangeArrowheads="1"/>
              </p:cNvSpPr>
              <p:nvPr/>
            </p:nvSpPr>
            <p:spPr bwMode="auto">
              <a:xfrm>
                <a:off x="5101" y="1848"/>
                <a:ext cx="287" cy="2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AU" altLang="en-US" sz="2000" b="1" i="1" dirty="0" err="1">
                    <a:latin typeface="Symbol" pitchFamily="2" charset="2"/>
                  </a:rPr>
                  <a:t>a</a:t>
                </a:r>
                <a:r>
                  <a:rPr lang="en-AU" altLang="en-US" sz="2000" b="1" i="1" baseline="-25000" dirty="0" err="1">
                    <a:latin typeface="Times New Roman" panose="02020603050405020304" pitchFamily="18" charset="0"/>
                  </a:rPr>
                  <a:t>in</a:t>
                </a:r>
                <a:endParaRPr lang="en-AU" altLang="en-US" sz="2000" b="1" i="1" baseline="-25000" dirty="0">
                  <a:latin typeface="Times New Roman" panose="02020603050405020304" pitchFamily="18" charset="0"/>
                </a:endParaRPr>
              </a:p>
            </p:txBody>
          </p:sp>
          <p:sp>
            <p:nvSpPr>
              <p:cNvPr id="20" name="Text Box 13">
                <a:extLst>
                  <a:ext uri="{FF2B5EF4-FFF2-40B4-BE49-F238E27FC236}">
                    <a16:creationId xmlns:a16="http://schemas.microsoft.com/office/drawing/2014/main" id="{65AF23CB-6AC5-3A1F-8A84-5329C00DA770}"/>
                  </a:ext>
                </a:extLst>
              </p:cNvPr>
              <p:cNvSpPr txBox="1">
                <a:spLocks noChangeArrowheads="1"/>
              </p:cNvSpPr>
              <p:nvPr/>
            </p:nvSpPr>
            <p:spPr bwMode="auto">
              <a:xfrm>
                <a:off x="4526" y="2460"/>
                <a:ext cx="639" cy="2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AU" altLang="en-US" sz="1800" b="1" i="1" dirty="0">
                    <a:latin typeface="Times New Roman" panose="02020603050405020304" pitchFamily="18" charset="0"/>
                  </a:rPr>
                  <a:t>Given: C</a:t>
                </a:r>
                <a:r>
                  <a:rPr lang="en-AU" altLang="en-US" sz="1800" b="1" i="1" baseline="-25000" dirty="0">
                    <a:latin typeface="Times New Roman" panose="02020603050405020304" pitchFamily="18" charset="0"/>
                  </a:rPr>
                  <a:t>i</a:t>
                </a:r>
              </a:p>
            </p:txBody>
          </p:sp>
          <p:sp>
            <p:nvSpPr>
              <p:cNvPr id="21" name="Text Box 14">
                <a:extLst>
                  <a:ext uri="{FF2B5EF4-FFF2-40B4-BE49-F238E27FC236}">
                    <a16:creationId xmlns:a16="http://schemas.microsoft.com/office/drawing/2014/main" id="{56ED0F5B-6A32-D322-E741-90F22B393436}"/>
                  </a:ext>
                </a:extLst>
              </p:cNvPr>
              <p:cNvSpPr txBox="1">
                <a:spLocks noChangeArrowheads="1"/>
              </p:cNvSpPr>
              <p:nvPr/>
            </p:nvSpPr>
            <p:spPr bwMode="auto">
              <a:xfrm>
                <a:off x="5135" y="2461"/>
                <a:ext cx="221" cy="2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AU" altLang="en-US" sz="1800" b="1" i="1">
                    <a:latin typeface="Symbol" pitchFamily="2" charset="2"/>
                  </a:rPr>
                  <a:t>a</a:t>
                </a:r>
                <a:r>
                  <a:rPr lang="en-AU" altLang="en-US" sz="1800" b="1" i="1" baseline="-25000">
                    <a:latin typeface="Times New Roman" panose="02020603050405020304" pitchFamily="18" charset="0"/>
                  </a:rPr>
                  <a:t>i</a:t>
                </a:r>
              </a:p>
            </p:txBody>
          </p:sp>
          <p:sp>
            <p:nvSpPr>
              <p:cNvPr id="22" name="Text Box 15">
                <a:extLst>
                  <a:ext uri="{FF2B5EF4-FFF2-40B4-BE49-F238E27FC236}">
                    <a16:creationId xmlns:a16="http://schemas.microsoft.com/office/drawing/2014/main" id="{F2ABF3A9-E29A-8420-C8B0-F690EE1949D7}"/>
                  </a:ext>
                </a:extLst>
              </p:cNvPr>
              <p:cNvSpPr txBox="1">
                <a:spLocks noChangeArrowheads="1"/>
              </p:cNvSpPr>
              <p:nvPr/>
            </p:nvSpPr>
            <p:spPr bwMode="auto">
              <a:xfrm>
                <a:off x="4493" y="2709"/>
                <a:ext cx="680"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AU" altLang="en-US" sz="1600" b="1">
                    <a:latin typeface="Garamond" panose="02020404030301010803" pitchFamily="18" charset="0"/>
                  </a:rPr>
                  <a:t>  Calculate:</a:t>
                </a:r>
              </a:p>
            </p:txBody>
          </p:sp>
          <p:sp>
            <p:nvSpPr>
              <p:cNvPr id="23" name="Text Box 16">
                <a:extLst>
                  <a:ext uri="{FF2B5EF4-FFF2-40B4-BE49-F238E27FC236}">
                    <a16:creationId xmlns:a16="http://schemas.microsoft.com/office/drawing/2014/main" id="{96207CB7-B9EE-3E29-F57C-6B504CC64DA7}"/>
                  </a:ext>
                </a:extLst>
              </p:cNvPr>
              <p:cNvSpPr txBox="1">
                <a:spLocks noChangeArrowheads="1"/>
              </p:cNvSpPr>
              <p:nvPr/>
            </p:nvSpPr>
            <p:spPr bwMode="auto">
              <a:xfrm>
                <a:off x="4696" y="2952"/>
                <a:ext cx="322" cy="2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AU" altLang="en-US" sz="1800" b="1" i="1">
                    <a:latin typeface="Times New Roman" panose="02020603050405020304" pitchFamily="18" charset="0"/>
                  </a:rPr>
                  <a:t>C</a:t>
                </a:r>
                <a:r>
                  <a:rPr lang="en-AU" altLang="en-US" sz="1800" b="1" i="1" baseline="-25000">
                    <a:latin typeface="Times New Roman" panose="02020603050405020304" pitchFamily="18" charset="0"/>
                  </a:rPr>
                  <a:t>out</a:t>
                </a:r>
              </a:p>
            </p:txBody>
          </p:sp>
          <p:sp>
            <p:nvSpPr>
              <p:cNvPr id="24" name="Text Box 17">
                <a:extLst>
                  <a:ext uri="{FF2B5EF4-FFF2-40B4-BE49-F238E27FC236}">
                    <a16:creationId xmlns:a16="http://schemas.microsoft.com/office/drawing/2014/main" id="{F2E98F4F-C6CC-8D05-9E86-DD8C3F1E2820}"/>
                  </a:ext>
                </a:extLst>
              </p:cNvPr>
              <p:cNvSpPr txBox="1">
                <a:spLocks noChangeArrowheads="1"/>
              </p:cNvSpPr>
              <p:nvPr/>
            </p:nvSpPr>
            <p:spPr bwMode="auto">
              <a:xfrm>
                <a:off x="5098" y="2954"/>
                <a:ext cx="317" cy="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AU" altLang="en-US" sz="1800" b="1" i="1">
                    <a:latin typeface="Symbol" pitchFamily="2" charset="2"/>
                  </a:rPr>
                  <a:t>a</a:t>
                </a:r>
                <a:r>
                  <a:rPr lang="en-AU" altLang="en-US" sz="1800" b="1" i="1" baseline="-25000">
                    <a:latin typeface="Times New Roman" panose="02020603050405020304" pitchFamily="18" charset="0"/>
                  </a:rPr>
                  <a:t>out</a:t>
                </a:r>
              </a:p>
            </p:txBody>
          </p:sp>
          <p:sp>
            <p:nvSpPr>
              <p:cNvPr id="25" name="Line 18">
                <a:extLst>
                  <a:ext uri="{FF2B5EF4-FFF2-40B4-BE49-F238E27FC236}">
                    <a16:creationId xmlns:a16="http://schemas.microsoft.com/office/drawing/2014/main" id="{5384937A-0F1B-07D7-C9EF-BCA2FD3CA77F}"/>
                  </a:ext>
                </a:extLst>
              </p:cNvPr>
              <p:cNvSpPr>
                <a:spLocks noChangeShapeType="1"/>
              </p:cNvSpPr>
              <p:nvPr/>
            </p:nvSpPr>
            <p:spPr bwMode="auto">
              <a:xfrm>
                <a:off x="4872" y="3230"/>
                <a:ext cx="0" cy="7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19">
                <a:extLst>
                  <a:ext uri="{FF2B5EF4-FFF2-40B4-BE49-F238E27FC236}">
                    <a16:creationId xmlns:a16="http://schemas.microsoft.com/office/drawing/2014/main" id="{CF030640-6638-1DB5-AB6D-634E413C199E}"/>
                  </a:ext>
                </a:extLst>
              </p:cNvPr>
              <p:cNvSpPr>
                <a:spLocks noChangeShapeType="1"/>
              </p:cNvSpPr>
              <p:nvPr/>
            </p:nvSpPr>
            <p:spPr bwMode="auto">
              <a:xfrm>
                <a:off x="5254" y="3202"/>
                <a:ext cx="0" cy="80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Text Box 20">
                <a:extLst>
                  <a:ext uri="{FF2B5EF4-FFF2-40B4-BE49-F238E27FC236}">
                    <a16:creationId xmlns:a16="http://schemas.microsoft.com/office/drawing/2014/main" id="{549205AC-7616-28F9-6B90-64A14FDF213C}"/>
                  </a:ext>
                </a:extLst>
              </p:cNvPr>
              <p:cNvSpPr txBox="1">
                <a:spLocks noChangeArrowheads="1"/>
              </p:cNvSpPr>
              <p:nvPr/>
            </p:nvSpPr>
            <p:spPr bwMode="auto">
              <a:xfrm>
                <a:off x="4698" y="3553"/>
                <a:ext cx="277" cy="2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AU" altLang="en-US" sz="1800" b="1" i="1">
                    <a:latin typeface="Times New Roman" panose="02020603050405020304" pitchFamily="18" charset="0"/>
                  </a:rPr>
                  <a:t>C</a:t>
                </a:r>
                <a:r>
                  <a:rPr lang="en-AU" altLang="en-US" sz="1800" b="1" i="1" baseline="-25000">
                    <a:latin typeface="Times New Roman" panose="02020603050405020304" pitchFamily="18" charset="0"/>
                  </a:rPr>
                  <a:t>in</a:t>
                </a:r>
              </a:p>
            </p:txBody>
          </p:sp>
          <p:sp>
            <p:nvSpPr>
              <p:cNvPr id="28" name="Text Box 21">
                <a:extLst>
                  <a:ext uri="{FF2B5EF4-FFF2-40B4-BE49-F238E27FC236}">
                    <a16:creationId xmlns:a16="http://schemas.microsoft.com/office/drawing/2014/main" id="{294054C0-CABF-6B38-A667-25C3E4E08364}"/>
                  </a:ext>
                </a:extLst>
              </p:cNvPr>
              <p:cNvSpPr txBox="1">
                <a:spLocks noChangeArrowheads="1"/>
              </p:cNvSpPr>
              <p:nvPr/>
            </p:nvSpPr>
            <p:spPr bwMode="auto">
              <a:xfrm>
                <a:off x="5100" y="3555"/>
                <a:ext cx="271" cy="2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AU" altLang="en-US" sz="1800" b="1" i="1">
                    <a:latin typeface="Symbol" pitchFamily="2" charset="2"/>
                  </a:rPr>
                  <a:t>a</a:t>
                </a:r>
                <a:r>
                  <a:rPr lang="en-AU" altLang="en-US" sz="1800" b="1" i="1" baseline="-25000">
                    <a:latin typeface="Times New Roman" panose="02020603050405020304" pitchFamily="18" charset="0"/>
                  </a:rPr>
                  <a:t>in</a:t>
                </a:r>
              </a:p>
            </p:txBody>
          </p:sp>
        </p:grpSp>
        <p:sp>
          <p:nvSpPr>
            <p:cNvPr id="9" name="Freeform 23">
              <a:extLst>
                <a:ext uri="{FF2B5EF4-FFF2-40B4-BE49-F238E27FC236}">
                  <a16:creationId xmlns:a16="http://schemas.microsoft.com/office/drawing/2014/main" id="{A3DAA2CF-F30F-5E1A-7B80-494DAE34A05A}"/>
                </a:ext>
              </a:extLst>
            </p:cNvPr>
            <p:cNvSpPr>
              <a:spLocks/>
            </p:cNvSpPr>
            <p:nvPr/>
          </p:nvSpPr>
          <p:spPr bwMode="auto">
            <a:xfrm>
              <a:off x="6759575" y="1751013"/>
              <a:ext cx="1022350" cy="4094162"/>
            </a:xfrm>
            <a:custGeom>
              <a:avLst/>
              <a:gdLst>
                <a:gd name="T0" fmla="*/ 2147483646 w 644"/>
                <a:gd name="T1" fmla="*/ 2147483646 h 2579"/>
                <a:gd name="T2" fmla="*/ 2147483646 w 644"/>
                <a:gd name="T3" fmla="*/ 2147483646 h 2579"/>
                <a:gd name="T4" fmla="*/ 2147483646 w 644"/>
                <a:gd name="T5" fmla="*/ 2147483646 h 2579"/>
                <a:gd name="T6" fmla="*/ 2147483646 w 644"/>
                <a:gd name="T7" fmla="*/ 2147483646 h 2579"/>
                <a:gd name="T8" fmla="*/ 2147483646 w 644"/>
                <a:gd name="T9" fmla="*/ 2147483646 h 2579"/>
                <a:gd name="T10" fmla="*/ 2147483646 w 644"/>
                <a:gd name="T11" fmla="*/ 2147483646 h 2579"/>
                <a:gd name="T12" fmla="*/ 2147483646 w 644"/>
                <a:gd name="T13" fmla="*/ 2147483646 h 2579"/>
                <a:gd name="T14" fmla="*/ 2147483646 w 644"/>
                <a:gd name="T15" fmla="*/ 2147483646 h 257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4" h="2579">
                  <a:moveTo>
                    <a:pt x="596" y="2485"/>
                  </a:moveTo>
                  <a:cubicBezTo>
                    <a:pt x="620" y="2516"/>
                    <a:pt x="644" y="2548"/>
                    <a:pt x="586" y="2542"/>
                  </a:cubicBezTo>
                  <a:cubicBezTo>
                    <a:pt x="528" y="2536"/>
                    <a:pt x="337" y="2579"/>
                    <a:pt x="246" y="2447"/>
                  </a:cubicBezTo>
                  <a:cubicBezTo>
                    <a:pt x="155" y="2315"/>
                    <a:pt x="73" y="2015"/>
                    <a:pt x="38" y="1749"/>
                  </a:cubicBezTo>
                  <a:cubicBezTo>
                    <a:pt x="3" y="1483"/>
                    <a:pt x="0" y="1120"/>
                    <a:pt x="38" y="852"/>
                  </a:cubicBezTo>
                  <a:cubicBezTo>
                    <a:pt x="76" y="584"/>
                    <a:pt x="174" y="280"/>
                    <a:pt x="265" y="143"/>
                  </a:cubicBezTo>
                  <a:cubicBezTo>
                    <a:pt x="356" y="6"/>
                    <a:pt x="528" y="0"/>
                    <a:pt x="586" y="30"/>
                  </a:cubicBezTo>
                  <a:cubicBezTo>
                    <a:pt x="644" y="60"/>
                    <a:pt x="609" y="274"/>
                    <a:pt x="614" y="323"/>
                  </a:cubicBezTo>
                </a:path>
              </a:pathLst>
            </a:custGeom>
            <a:noFill/>
            <a:ln w="9525" cap="flat">
              <a:solidFill>
                <a:schemeClr val="tx1"/>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24">
              <a:extLst>
                <a:ext uri="{FF2B5EF4-FFF2-40B4-BE49-F238E27FC236}">
                  <a16:creationId xmlns:a16="http://schemas.microsoft.com/office/drawing/2014/main" id="{58A0D9B3-3DE3-0053-B15F-EA613FF73C99}"/>
                </a:ext>
              </a:extLst>
            </p:cNvPr>
            <p:cNvSpPr>
              <a:spLocks/>
            </p:cNvSpPr>
            <p:nvPr/>
          </p:nvSpPr>
          <p:spPr bwMode="auto">
            <a:xfrm>
              <a:off x="6915150" y="1746250"/>
              <a:ext cx="1531938" cy="4094163"/>
            </a:xfrm>
            <a:custGeom>
              <a:avLst/>
              <a:gdLst>
                <a:gd name="T0" fmla="*/ 2147483646 w 644"/>
                <a:gd name="T1" fmla="*/ 2147483646 h 2579"/>
                <a:gd name="T2" fmla="*/ 2147483646 w 644"/>
                <a:gd name="T3" fmla="*/ 2147483646 h 2579"/>
                <a:gd name="T4" fmla="*/ 2147483646 w 644"/>
                <a:gd name="T5" fmla="*/ 2147483646 h 2579"/>
                <a:gd name="T6" fmla="*/ 2147483646 w 644"/>
                <a:gd name="T7" fmla="*/ 2147483646 h 2579"/>
                <a:gd name="T8" fmla="*/ 2147483646 w 644"/>
                <a:gd name="T9" fmla="*/ 2147483646 h 2579"/>
                <a:gd name="T10" fmla="*/ 2147483646 w 644"/>
                <a:gd name="T11" fmla="*/ 2147483646 h 2579"/>
                <a:gd name="T12" fmla="*/ 2147483646 w 644"/>
                <a:gd name="T13" fmla="*/ 2147483646 h 2579"/>
                <a:gd name="T14" fmla="*/ 2147483646 w 644"/>
                <a:gd name="T15" fmla="*/ 2147483646 h 257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4" h="2579">
                  <a:moveTo>
                    <a:pt x="596" y="2485"/>
                  </a:moveTo>
                  <a:cubicBezTo>
                    <a:pt x="620" y="2516"/>
                    <a:pt x="644" y="2548"/>
                    <a:pt x="586" y="2542"/>
                  </a:cubicBezTo>
                  <a:cubicBezTo>
                    <a:pt x="528" y="2536"/>
                    <a:pt x="337" y="2579"/>
                    <a:pt x="246" y="2447"/>
                  </a:cubicBezTo>
                  <a:cubicBezTo>
                    <a:pt x="155" y="2315"/>
                    <a:pt x="73" y="2015"/>
                    <a:pt x="38" y="1749"/>
                  </a:cubicBezTo>
                  <a:cubicBezTo>
                    <a:pt x="3" y="1483"/>
                    <a:pt x="0" y="1120"/>
                    <a:pt x="38" y="852"/>
                  </a:cubicBezTo>
                  <a:cubicBezTo>
                    <a:pt x="76" y="584"/>
                    <a:pt x="174" y="280"/>
                    <a:pt x="265" y="143"/>
                  </a:cubicBezTo>
                  <a:cubicBezTo>
                    <a:pt x="356" y="6"/>
                    <a:pt x="528" y="0"/>
                    <a:pt x="586" y="30"/>
                  </a:cubicBezTo>
                  <a:cubicBezTo>
                    <a:pt x="644" y="60"/>
                    <a:pt x="609" y="274"/>
                    <a:pt x="614" y="323"/>
                  </a:cubicBezTo>
                </a:path>
              </a:pathLst>
            </a:custGeom>
            <a:noFill/>
            <a:ln w="9525" cap="flat">
              <a:solidFill>
                <a:schemeClr val="tx1"/>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11" name="Object 26">
              <a:extLst>
                <a:ext uri="{FF2B5EF4-FFF2-40B4-BE49-F238E27FC236}">
                  <a16:creationId xmlns:a16="http://schemas.microsoft.com/office/drawing/2014/main" id="{FB2170F3-5971-2F40-46AF-20916FB3698A}"/>
                </a:ext>
              </a:extLst>
            </p:cNvPr>
            <p:cNvGraphicFramePr>
              <a:graphicFrameLocks noChangeAspect="1"/>
            </p:cNvGraphicFramePr>
            <p:nvPr>
              <p:extLst>
                <p:ext uri="{D42A27DB-BD31-4B8C-83A1-F6EECF244321}">
                  <p14:modId xmlns:p14="http://schemas.microsoft.com/office/powerpoint/2010/main" val="3436573057"/>
                </p:ext>
              </p:extLst>
            </p:nvPr>
          </p:nvGraphicFramePr>
          <p:xfrm>
            <a:off x="2128838" y="2859088"/>
            <a:ext cx="2765425" cy="922337"/>
          </p:xfrm>
          <a:graphic>
            <a:graphicData uri="http://schemas.openxmlformats.org/presentationml/2006/ole">
              <mc:AlternateContent xmlns:mc="http://schemas.openxmlformats.org/markup-compatibility/2006">
                <mc:Choice xmlns:v="urn:schemas-microsoft-com:vml" Requires="v">
                  <p:oleObj name="Equation" r:id="rId2" imgW="15798800" imgH="5264150" progId="Equation.3">
                    <p:embed/>
                  </p:oleObj>
                </mc:Choice>
                <mc:Fallback>
                  <p:oleObj name="Equation" r:id="rId2" imgW="15798800" imgH="5264150" progId="Equation.3">
                    <p:embed/>
                    <p:pic>
                      <p:nvPicPr>
                        <p:cNvPr id="11" name="Object 26">
                          <a:extLst>
                            <a:ext uri="{FF2B5EF4-FFF2-40B4-BE49-F238E27FC236}">
                              <a16:creationId xmlns:a16="http://schemas.microsoft.com/office/drawing/2014/main" id="{FB2170F3-5971-2F40-46AF-20916FB369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2859088"/>
                          <a:ext cx="2765425"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2" name="Picture 1">
              <a:extLst>
                <a:ext uri="{FF2B5EF4-FFF2-40B4-BE49-F238E27FC236}">
                  <a16:creationId xmlns:a16="http://schemas.microsoft.com/office/drawing/2014/main" id="{FC5EF2D8-4952-018A-7B91-9102D6018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2950" y="4012495"/>
              <a:ext cx="3281363"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4">
              <a:extLst>
                <a:ext uri="{FF2B5EF4-FFF2-40B4-BE49-F238E27FC236}">
                  <a16:creationId xmlns:a16="http://schemas.microsoft.com/office/drawing/2014/main" id="{C209E48B-FE32-72A6-811C-F2780CFAD4BB}"/>
                </a:ext>
              </a:extLst>
            </p:cNvPr>
            <p:cNvSpPr txBox="1">
              <a:spLocks noChangeArrowheads="1"/>
            </p:cNvSpPr>
            <p:nvPr/>
          </p:nvSpPr>
          <p:spPr bwMode="auto">
            <a:xfrm>
              <a:off x="1466850" y="4985660"/>
              <a:ext cx="7686675" cy="115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371600" indent="-457200">
                <a:spcBef>
                  <a:spcPct val="20000"/>
                </a:spcBef>
                <a:buChar char="•"/>
                <a:defRPr sz="2400">
                  <a:solidFill>
                    <a:schemeClr val="tx1"/>
                  </a:solidFill>
                  <a:latin typeface="Arial" panose="020B0604020202020204" pitchFamily="34" charset="0"/>
                  <a:cs typeface="Arial" panose="020B0604020202020204" pitchFamily="34" charset="0"/>
                </a:defRPr>
              </a:lvl3pPr>
              <a:lvl4pPr marL="1828800" indent="-457200">
                <a:spcBef>
                  <a:spcPct val="20000"/>
                </a:spcBef>
                <a:buChar char="–"/>
                <a:defRPr sz="2000">
                  <a:solidFill>
                    <a:schemeClr val="tx1"/>
                  </a:solidFill>
                  <a:latin typeface="Arial" panose="020B0604020202020204" pitchFamily="34" charset="0"/>
                  <a:cs typeface="Arial" panose="020B0604020202020204" pitchFamily="34" charset="0"/>
                </a:defRPr>
              </a:lvl4pPr>
              <a:lvl5pPr marL="2286000" indent="-457200">
                <a:spcBef>
                  <a:spcPct val="20000"/>
                </a:spcBef>
                <a:buChar char="»"/>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20000"/>
                </a:spcBef>
                <a:spcAft>
                  <a:spcPct val="0"/>
                </a:spcAft>
                <a:buChar char="»"/>
                <a:defRPr>
                  <a:solidFill>
                    <a:schemeClr val="tx1"/>
                  </a:solidFill>
                  <a:latin typeface="Arial" panose="020B0604020202020204" pitchFamily="34" charset="0"/>
                  <a:cs typeface="Arial" panose="020B0604020202020204" pitchFamily="34" charset="0"/>
                </a:defRPr>
              </a:lvl9pPr>
            </a:lstStyle>
            <a:p>
              <a:pPr>
                <a:lnSpc>
                  <a:spcPct val="110000"/>
                </a:lnSpc>
                <a:spcBef>
                  <a:spcPct val="0"/>
                </a:spcBef>
              </a:pPr>
              <a:r>
                <a:rPr lang="en-AU" altLang="en-US" sz="1600" i="1" dirty="0"/>
                <a:t>Attenuation is:</a:t>
              </a:r>
            </a:p>
            <a:p>
              <a:pPr lvl="1">
                <a:lnSpc>
                  <a:spcPct val="110000"/>
                </a:lnSpc>
                <a:spcBef>
                  <a:spcPct val="0"/>
                </a:spcBef>
                <a:buFont typeface="Arial" panose="020B0604020202020204" pitchFamily="34" charset="0"/>
                <a:buChar char="•"/>
              </a:pPr>
              <a:r>
                <a:rPr lang="en-AU" altLang="en-US" sz="1600" i="1" dirty="0"/>
                <a:t>Conserved</a:t>
              </a:r>
            </a:p>
            <a:p>
              <a:pPr lvl="1">
                <a:lnSpc>
                  <a:spcPct val="110000"/>
                </a:lnSpc>
                <a:spcBef>
                  <a:spcPct val="0"/>
                </a:spcBef>
                <a:buFont typeface="Arial" panose="020B0604020202020204" pitchFamily="34" charset="0"/>
                <a:buChar char="•"/>
              </a:pPr>
              <a:r>
                <a:rPr lang="en-AU" altLang="en-US" sz="1600" i="1" dirty="0"/>
                <a:t>Compounded by local density</a:t>
              </a:r>
            </a:p>
            <a:p>
              <a:pPr lvl="1">
                <a:lnSpc>
                  <a:spcPct val="110000"/>
                </a:lnSpc>
                <a:spcBef>
                  <a:spcPct val="0"/>
                </a:spcBef>
                <a:buFontTx/>
                <a:buNone/>
              </a:pPr>
              <a:r>
                <a:rPr lang="en-AU" altLang="en-US" sz="1600" i="1" dirty="0"/>
                <a:t>     </a:t>
              </a:r>
              <a:r>
                <a:rPr lang="en-AU" altLang="en-US" sz="1600" dirty="0"/>
                <a:t>(a photon survived, and then was absorbed)</a:t>
              </a:r>
            </a:p>
          </p:txBody>
        </p:sp>
        <p:pic>
          <p:nvPicPr>
            <p:cNvPr id="14" name="Picture 2">
              <a:extLst>
                <a:ext uri="{FF2B5EF4-FFF2-40B4-BE49-F238E27FC236}">
                  <a16:creationId xmlns:a16="http://schemas.microsoft.com/office/drawing/2014/main" id="{4195A3A5-365B-8179-DC38-D92E4C41CB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7725" y="4531868"/>
              <a:ext cx="29622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364943044"/>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1: Volume rendering (R)</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p:txBody>
          <a:bodyPr>
            <a:normAutofit lnSpcReduction="10000"/>
          </a:bodyPr>
          <a:lstStyle/>
          <a:p>
            <a:pPr marL="0" lvl="0" indent="0">
              <a:buClr>
                <a:srgbClr val="B1B1B1"/>
              </a:buClr>
              <a:buSzPct val="100000"/>
              <a:buNone/>
            </a:pPr>
            <a:r>
              <a:rPr lang="en-US" sz="1800" dirty="0"/>
              <a:t>Download the micro-CT scan of a staghorn beetle in .raw format:</a:t>
            </a:r>
          </a:p>
          <a:p>
            <a:pPr marL="0" lvl="0" indent="0">
              <a:buClr>
                <a:srgbClr val="B1B1B1"/>
              </a:buClr>
              <a:buSzPct val="100000"/>
              <a:buNone/>
            </a:pPr>
            <a:r>
              <a:rPr lang="en-US" sz="1800" i="1" dirty="0"/>
              <a:t>	stag_beetle_832x832x494_uint16.raw</a:t>
            </a:r>
          </a:p>
          <a:p>
            <a:pPr marL="0" lvl="0" indent="0">
              <a:buClr>
                <a:srgbClr val="B1B1B1"/>
              </a:buClr>
              <a:buSzPct val="100000"/>
              <a:buNone/>
            </a:pPr>
            <a:br>
              <a:rPr lang="en-US" sz="1800" dirty="0"/>
            </a:br>
            <a:r>
              <a:rPr lang="en-US" sz="1800" dirty="0"/>
              <a:t>Use the following R commands to load and reshape the data: </a:t>
            </a:r>
          </a:p>
          <a:p>
            <a:pPr marL="0" lvl="0" indent="0">
              <a:buClr>
                <a:srgbClr val="B1B1B1"/>
              </a:buClr>
              <a:buSzPct val="100000"/>
              <a:buNone/>
            </a:pPr>
            <a:r>
              <a:rPr lang="en-US" sz="1400" dirty="0">
                <a:latin typeface="Courier 10 Pitch" pitchFamily="33"/>
              </a:rPr>
              <a:t>fid &lt;- file('stag_beetle_832x832x494_uint16.raw', '</a:t>
            </a:r>
            <a:r>
              <a:rPr lang="en-US" sz="1400" dirty="0" err="1">
                <a:latin typeface="Courier 10 Pitch" pitchFamily="33"/>
              </a:rPr>
              <a:t>rb</a:t>
            </a:r>
            <a:r>
              <a:rPr lang="en-US" sz="1400" dirty="0">
                <a:latin typeface="Courier 10 Pitch" pitchFamily="33"/>
              </a:rPr>
              <a:t>')</a:t>
            </a:r>
          </a:p>
          <a:p>
            <a:pPr marL="0" lvl="0" indent="0">
              <a:buClr>
                <a:srgbClr val="B1B1B1"/>
              </a:buClr>
              <a:buSzPct val="100000"/>
              <a:buNone/>
            </a:pPr>
            <a:r>
              <a:rPr lang="en-US" sz="1400" dirty="0" err="1">
                <a:latin typeface="Courier 10 Pitch" pitchFamily="33"/>
              </a:rPr>
              <a:t>beetle_data</a:t>
            </a:r>
            <a:r>
              <a:rPr lang="en-US" sz="1400" dirty="0">
                <a:latin typeface="Courier 10 Pitch" pitchFamily="33"/>
              </a:rPr>
              <a:t> &lt;- </a:t>
            </a:r>
            <a:r>
              <a:rPr lang="en-US" sz="1400" dirty="0" err="1">
                <a:latin typeface="Courier 10 Pitch" pitchFamily="33"/>
              </a:rPr>
              <a:t>readBin</a:t>
            </a:r>
            <a:r>
              <a:rPr lang="en-US" sz="1400" dirty="0">
                <a:latin typeface="Courier 10 Pitch" pitchFamily="33"/>
              </a:rPr>
              <a:t>(fid, 'integer', n = 832*832*494, size = 2,</a:t>
            </a:r>
            <a:br>
              <a:rPr lang="en-US" sz="1400" dirty="0">
                <a:latin typeface="Courier 10 Pitch" pitchFamily="33"/>
              </a:rPr>
            </a:br>
            <a:r>
              <a:rPr lang="en-US" sz="1400" dirty="0">
                <a:latin typeface="Courier 10 Pitch" pitchFamily="33"/>
              </a:rPr>
              <a:t> signed = FALSE)</a:t>
            </a:r>
          </a:p>
          <a:p>
            <a:pPr marL="0" lvl="0" indent="0">
              <a:buClr>
                <a:srgbClr val="B1B1B1"/>
              </a:buClr>
              <a:buSzPct val="100000"/>
              <a:buNone/>
            </a:pPr>
            <a:r>
              <a:rPr lang="en-US" sz="1400">
                <a:latin typeface="Courier 10 Pitch" pitchFamily="33"/>
              </a:rPr>
              <a:t>close</a:t>
            </a:r>
            <a:r>
              <a:rPr lang="en-US" sz="1400" dirty="0">
                <a:latin typeface="Courier 10 Pitch" pitchFamily="33"/>
              </a:rPr>
              <a:t>(</a:t>
            </a:r>
            <a:r>
              <a:rPr lang="en-US" sz="1400">
                <a:latin typeface="Courier 10 Pitch" pitchFamily="33"/>
              </a:rPr>
              <a:t>fid)</a:t>
            </a:r>
            <a:endParaRPr lang="en-US" sz="1400" dirty="0">
              <a:latin typeface="Courier 10 Pitch" pitchFamily="33"/>
            </a:endParaRPr>
          </a:p>
          <a:p>
            <a:pPr marL="0" lvl="0" indent="0">
              <a:buClr>
                <a:srgbClr val="B1B1B1"/>
              </a:buClr>
              <a:buSzPct val="100000"/>
              <a:buNone/>
            </a:pPr>
            <a:r>
              <a:rPr lang="en-US" sz="1400" dirty="0" err="1">
                <a:latin typeface="Courier 10 Pitch" pitchFamily="33"/>
              </a:rPr>
              <a:t>beetle_data</a:t>
            </a:r>
            <a:r>
              <a:rPr lang="en-US" sz="1400" dirty="0">
                <a:latin typeface="Courier 10 Pitch" pitchFamily="33"/>
              </a:rPr>
              <a:t> &lt;- array(</a:t>
            </a:r>
            <a:r>
              <a:rPr lang="en-US" sz="1400" dirty="0" err="1">
                <a:latin typeface="Courier 10 Pitch" pitchFamily="33"/>
              </a:rPr>
              <a:t>beetle_data</a:t>
            </a:r>
            <a:r>
              <a:rPr lang="en-US" sz="1400" dirty="0">
                <a:latin typeface="Courier 10 Pitch" pitchFamily="33"/>
              </a:rPr>
              <a:t>, dim = c(832, 832, 494))</a:t>
            </a:r>
            <a:br>
              <a:rPr lang="en-US" sz="1400" dirty="0">
                <a:latin typeface="Courier 10 Pitch" pitchFamily="33"/>
              </a:rPr>
            </a:br>
            <a:endParaRPr lang="en-US" sz="1800" dirty="0"/>
          </a:p>
          <a:p>
            <a:pPr marL="0" lvl="0" indent="0">
              <a:buClr>
                <a:srgbClr val="B1B1B1"/>
              </a:buClr>
              <a:buSzPct val="100000"/>
              <a:buNone/>
            </a:pPr>
            <a:r>
              <a:rPr lang="en-US" sz="1800" dirty="0"/>
              <a:t>Use the simple volume renderer you created previously to produce a greyscale </a:t>
            </a:r>
            <a:r>
              <a:rPr lang="en-US" sz="1800" dirty="0" err="1"/>
              <a:t>visualisation</a:t>
            </a:r>
            <a:r>
              <a:rPr lang="en-US" sz="1800" dirty="0"/>
              <a:t> of the structure of the animal, with a perspective from below. </a:t>
            </a:r>
          </a:p>
          <a:p>
            <a:pPr marL="0" lvl="0" indent="0">
              <a:buClr>
                <a:srgbClr val="B1B1B1"/>
              </a:buClr>
              <a:buSzPct val="100000"/>
              <a:buNone/>
            </a:pPr>
            <a:r>
              <a:rPr lang="en-US" sz="1800" dirty="0"/>
              <a:t>The example image here uses a compositing, ray casting approach to produce an even higher quality render. Feel free to experiment!  </a:t>
            </a:r>
          </a:p>
        </p:txBody>
      </p:sp>
      <p:pic>
        <p:nvPicPr>
          <p:cNvPr id="3" name="Picture 2">
            <a:extLst>
              <a:ext uri="{FF2B5EF4-FFF2-40B4-BE49-F238E27FC236}">
                <a16:creationId xmlns:a16="http://schemas.microsoft.com/office/drawing/2014/main" id="{D29ED75A-A366-CC96-D799-75CE29EDDBE0}"/>
              </a:ext>
            </a:extLst>
          </p:cNvPr>
          <p:cNvPicPr>
            <a:picLocks noChangeAspect="1"/>
          </p:cNvPicPr>
          <p:nvPr/>
        </p:nvPicPr>
        <p:blipFill>
          <a:blip r:embed="rId2"/>
          <a:stretch>
            <a:fillRect/>
          </a:stretch>
        </p:blipFill>
        <p:spPr>
          <a:xfrm>
            <a:off x="8637920" y="1969711"/>
            <a:ext cx="2301925" cy="2308676"/>
          </a:xfrm>
          <a:prstGeom prst="rect">
            <a:avLst/>
          </a:prstGeom>
        </p:spPr>
      </p:pic>
    </p:spTree>
    <p:extLst>
      <p:ext uri="{BB962C8B-B14F-4D97-AF65-F5344CB8AC3E}">
        <p14:creationId xmlns:p14="http://schemas.microsoft.com/office/powerpoint/2010/main" val="322146402"/>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2: More volume rendering (MATLAB)</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5454121" cy="4061304"/>
          </a:xfrm>
        </p:spPr>
        <p:txBody>
          <a:bodyPr>
            <a:normAutofit fontScale="77500" lnSpcReduction="20000"/>
          </a:bodyPr>
          <a:lstStyle/>
          <a:p>
            <a:pPr marL="0" lvl="0" indent="0">
              <a:buClr>
                <a:srgbClr val="B1B1B1"/>
              </a:buClr>
              <a:buSzPct val="100000"/>
              <a:buNone/>
            </a:pPr>
            <a:r>
              <a:rPr lang="en-US" sz="1400" dirty="0"/>
              <a:t>One technical aspect of volume </a:t>
            </a:r>
            <a:r>
              <a:rPr lang="en-US" sz="1400" dirty="0" err="1"/>
              <a:t>visualisation</a:t>
            </a:r>
            <a:r>
              <a:rPr lang="en-US" sz="1400" dirty="0"/>
              <a:t> that MATLAB excels at is dynamic lighting. Load the stag beetle data into MATLAB:</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fid = </a:t>
            </a:r>
            <a:r>
              <a:rPr lang="en-US" sz="1400" dirty="0" err="1">
                <a:latin typeface="Courier New" panose="02070309020205020404" pitchFamily="49" charset="0"/>
                <a:cs typeface="Courier New" panose="02070309020205020404" pitchFamily="49" charset="0"/>
              </a:rPr>
              <a:t>fopen</a:t>
            </a:r>
            <a:r>
              <a:rPr lang="en-US" sz="1400" dirty="0">
                <a:latin typeface="Courier New" panose="02070309020205020404" pitchFamily="49" charset="0"/>
                <a:cs typeface="Courier New" panose="02070309020205020404" pitchFamily="49" charset="0"/>
              </a:rPr>
              <a:t>('stag_beetle_832x832x494_uint16.raw','r');</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data = </a:t>
            </a:r>
            <a:r>
              <a:rPr lang="en-US" sz="1400" dirty="0" err="1">
                <a:latin typeface="Courier New" panose="02070309020205020404" pitchFamily="49" charset="0"/>
                <a:cs typeface="Courier New" panose="02070309020205020404" pitchFamily="49" charset="0"/>
              </a:rPr>
              <a:t>fread</a:t>
            </a:r>
            <a:r>
              <a:rPr lang="en-US" sz="1400" dirty="0">
                <a:latin typeface="Courier New" panose="02070309020205020404" pitchFamily="49" charset="0"/>
                <a:cs typeface="Courier New" panose="02070309020205020404" pitchFamily="49" charset="0"/>
              </a:rPr>
              <a:t>(fid, 832*832*494, 'uint16');</a:t>
            </a:r>
          </a:p>
          <a:p>
            <a:pPr marL="0" lvl="0" indent="0">
              <a:buClr>
                <a:srgbClr val="B1B1B1"/>
              </a:buClr>
              <a:buSzPct val="100000"/>
              <a:buNone/>
            </a:pPr>
            <a:r>
              <a:rPr lang="en-US" sz="1400" dirty="0" err="1">
                <a:latin typeface="Courier New" panose="02070309020205020404" pitchFamily="49" charset="0"/>
                <a:cs typeface="Courier New" panose="02070309020205020404" pitchFamily="49" charset="0"/>
              </a:rPr>
              <a:t>fclose</a:t>
            </a:r>
            <a:r>
              <a:rPr lang="en-US" sz="1400" dirty="0">
                <a:latin typeface="Courier New" panose="02070309020205020404" pitchFamily="49" charset="0"/>
                <a:cs typeface="Courier New" panose="02070309020205020404" pitchFamily="49" charset="0"/>
              </a:rPr>
              <a:t>(fid);</a:t>
            </a:r>
          </a:p>
          <a:p>
            <a:pPr marL="0" lvl="0" indent="0">
              <a:buClr>
                <a:srgbClr val="B1B1B1"/>
              </a:buClr>
              <a:buSzPct val="100000"/>
              <a:buNone/>
            </a:pPr>
            <a:r>
              <a:rPr lang="en-US" sz="1400" dirty="0"/>
              <a:t>Use the </a:t>
            </a:r>
            <a:r>
              <a:rPr lang="en-US" sz="1200" dirty="0" err="1">
                <a:latin typeface="Courier 10 Pitch" pitchFamily="33"/>
              </a:rPr>
              <a:t>isosurface</a:t>
            </a:r>
            <a:r>
              <a:rPr lang="en-US" sz="1400" dirty="0"/>
              <a:t> command to create a surface at the density value of outer chitin: </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D = D(1:3:end,1:3:end,end:-3:1);</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x = 1:size(D,1);</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y = 1:size(D,2);</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z = 1:size(D,3);</a:t>
            </a:r>
            <a:br>
              <a:rPr lang="en-US" sz="1400" dirty="0"/>
            </a:br>
            <a:endParaRPr lang="en-US" sz="1400" dirty="0"/>
          </a:p>
          <a:p>
            <a:pPr marL="0" lvl="0" indent="0">
              <a:buClr>
                <a:srgbClr val="B1B1B1"/>
              </a:buClr>
              <a:buSzPct val="100000"/>
              <a:buNone/>
            </a:pPr>
            <a:r>
              <a:rPr lang="en-US" sz="1400" dirty="0"/>
              <a:t>Choose an ISOVALUE that produces a clear </a:t>
            </a:r>
            <a:r>
              <a:rPr lang="en-US" sz="1400" dirty="0" err="1"/>
              <a:t>visualisation</a:t>
            </a:r>
            <a:r>
              <a:rPr lang="en-US" sz="1400" dirty="0"/>
              <a:t>:</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surface = </a:t>
            </a:r>
            <a:r>
              <a:rPr lang="en-US" sz="1400" dirty="0" err="1">
                <a:latin typeface="Courier New" panose="02070309020205020404" pitchFamily="49" charset="0"/>
                <a:cs typeface="Courier New" panose="02070309020205020404" pitchFamily="49" charset="0"/>
              </a:rPr>
              <a:t>isosurface</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x,y,z,D,ISOVALUE</a:t>
            </a:r>
            <a:r>
              <a:rPr lang="en-US" sz="1400" dirty="0">
                <a:latin typeface="Courier New" panose="02070309020205020404" pitchFamily="49" charset="0"/>
                <a:cs typeface="Courier New" panose="02070309020205020404" pitchFamily="49" charset="0"/>
              </a:rPr>
              <a:t>);</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p = patch(surface, '</a:t>
            </a:r>
            <a:r>
              <a:rPr lang="en-US" sz="1400" dirty="0" err="1">
                <a:latin typeface="Courier New" panose="02070309020205020404" pitchFamily="49" charset="0"/>
                <a:cs typeface="Courier New" panose="02070309020205020404" pitchFamily="49" charset="0"/>
              </a:rPr>
              <a:t>FaceColor</a:t>
            </a:r>
            <a:r>
              <a:rPr lang="en-US" sz="1400" dirty="0">
                <a:latin typeface="Courier New" panose="02070309020205020404" pitchFamily="49" charset="0"/>
                <a:cs typeface="Courier New" panose="02070309020205020404" pitchFamily="49" charset="0"/>
              </a:rPr>
              <a:t>', 'red', '</a:t>
            </a:r>
            <a:r>
              <a:rPr lang="en-US" sz="1400" dirty="0" err="1">
                <a:latin typeface="Courier New" panose="02070309020205020404" pitchFamily="49" charset="0"/>
                <a:cs typeface="Courier New" panose="02070309020205020404" pitchFamily="49" charset="0"/>
              </a:rPr>
              <a:t>EdgeColor</a:t>
            </a:r>
            <a:r>
              <a:rPr lang="en-US" sz="1400" dirty="0">
                <a:latin typeface="Courier New" panose="02070309020205020404" pitchFamily="49" charset="0"/>
                <a:cs typeface="Courier New" panose="02070309020205020404" pitchFamily="49" charset="0"/>
              </a:rPr>
              <a:t>', 'none');</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lighting </a:t>
            </a:r>
            <a:r>
              <a:rPr lang="en-US" sz="1400" dirty="0" err="1">
                <a:latin typeface="Courier New" panose="02070309020205020404" pitchFamily="49" charset="0"/>
                <a:cs typeface="Courier New" panose="02070309020205020404" pitchFamily="49" charset="0"/>
              </a:rPr>
              <a:t>gouraud</a:t>
            </a:r>
            <a:endParaRPr lang="en-US" sz="1400" dirty="0">
              <a:latin typeface="Courier New" panose="02070309020205020404" pitchFamily="49" charset="0"/>
              <a:cs typeface="Courier New" panose="02070309020205020404" pitchFamily="49" charset="0"/>
            </a:endParaRP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axis vis3d off</a:t>
            </a:r>
          </a:p>
          <a:p>
            <a:pPr marL="0" lvl="0" indent="0">
              <a:buClr>
                <a:srgbClr val="B1B1B1"/>
              </a:buClr>
              <a:buSzPct val="100000"/>
              <a:buNone/>
            </a:pPr>
            <a:r>
              <a:rPr lang="en-US" sz="1400" dirty="0">
                <a:latin typeface="Courier New" panose="02070309020205020404" pitchFamily="49" charset="0"/>
                <a:cs typeface="Courier New" panose="02070309020205020404" pitchFamily="49" charset="0"/>
              </a:rPr>
              <a:t>set(</a:t>
            </a:r>
            <a:r>
              <a:rPr lang="en-US" sz="1400" dirty="0" err="1">
                <a:latin typeface="Courier New" panose="02070309020205020404" pitchFamily="49" charset="0"/>
                <a:cs typeface="Courier New" panose="02070309020205020404" pitchFamily="49" charset="0"/>
              </a:rPr>
              <a:t>gcf</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color','w</a:t>
            </a:r>
            <a:r>
              <a:rPr lang="en-US" sz="1400" dirty="0">
                <a:latin typeface="Courier New" panose="02070309020205020404" pitchFamily="49" charset="0"/>
                <a:cs typeface="Courier New" panose="02070309020205020404" pitchFamily="49" charset="0"/>
              </a:rPr>
              <a:t>')</a:t>
            </a:r>
          </a:p>
          <a:p>
            <a:pPr marL="0" lvl="0" indent="0">
              <a:buClr>
                <a:srgbClr val="B1B1B1"/>
              </a:buClr>
              <a:buSzPct val="100000"/>
              <a:buNone/>
            </a:pPr>
            <a:endParaRPr lang="en-US" sz="1800" dirty="0"/>
          </a:p>
        </p:txBody>
      </p:sp>
      <p:pic>
        <p:nvPicPr>
          <p:cNvPr id="2" name="Picture 1">
            <a:extLst>
              <a:ext uri="{FF2B5EF4-FFF2-40B4-BE49-F238E27FC236}">
                <a16:creationId xmlns:a16="http://schemas.microsoft.com/office/drawing/2014/main" id="{0A30CACF-3E03-CF16-A1E5-7BD28C4D773C}"/>
              </a:ext>
            </a:extLst>
          </p:cNvPr>
          <p:cNvPicPr>
            <a:picLocks noChangeAspect="1"/>
          </p:cNvPicPr>
          <p:nvPr/>
        </p:nvPicPr>
        <p:blipFill>
          <a:blip r:embed="rId2"/>
          <a:stretch>
            <a:fillRect/>
          </a:stretch>
        </p:blipFill>
        <p:spPr>
          <a:xfrm>
            <a:off x="8537488" y="1493150"/>
            <a:ext cx="2787410" cy="2824700"/>
          </a:xfrm>
          <a:prstGeom prst="rect">
            <a:avLst/>
          </a:prstGeom>
        </p:spPr>
      </p:pic>
      <p:sp>
        <p:nvSpPr>
          <p:cNvPr id="3" name="Content Placeholder 5">
            <a:extLst>
              <a:ext uri="{FF2B5EF4-FFF2-40B4-BE49-F238E27FC236}">
                <a16:creationId xmlns:a16="http://schemas.microsoft.com/office/drawing/2014/main" id="{3957FB8D-A35E-2E0E-B35D-BFE8E5F97E84}"/>
              </a:ext>
            </a:extLst>
          </p:cNvPr>
          <p:cNvSpPr txBox="1">
            <a:spLocks/>
          </p:cNvSpPr>
          <p:nvPr/>
        </p:nvSpPr>
        <p:spPr>
          <a:xfrm>
            <a:off x="6084000" y="1769314"/>
            <a:ext cx="5454121" cy="3960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rgbClr val="B1B1B1"/>
              </a:buClr>
              <a:buSzPct val="100000"/>
              <a:buNone/>
            </a:pPr>
            <a:r>
              <a:rPr lang="en-US" sz="1400" dirty="0"/>
              <a:t>Rotate the </a:t>
            </a:r>
            <a:r>
              <a:rPr lang="en-US" sz="1400" dirty="0" err="1"/>
              <a:t>visualisation</a:t>
            </a:r>
            <a:r>
              <a:rPr lang="en-US" sz="1400" dirty="0"/>
              <a:t> &amp; alter lighting: </a:t>
            </a:r>
          </a:p>
          <a:p>
            <a:pPr marL="0" lvl="0" indent="0">
              <a:spcBef>
                <a:spcPts val="0"/>
              </a:spcBef>
              <a:buClr>
                <a:srgbClr val="B1B1B1"/>
              </a:buClr>
              <a:buSzPct val="100000"/>
              <a:buNone/>
            </a:pPr>
            <a:endParaRPr lang="en-US" sz="1400" dirty="0"/>
          </a:p>
          <a:p>
            <a:pPr marL="0" lvl="0" indent="0">
              <a:spcBef>
                <a:spcPts val="0"/>
              </a:spcBef>
              <a:buClr>
                <a:srgbClr val="B1B1B1"/>
              </a:buClr>
              <a:buSzPct val="100000"/>
              <a:buNone/>
            </a:pPr>
            <a:r>
              <a:rPr lang="en-US" sz="1400" dirty="0">
                <a:latin typeface="Courier New" panose="02070309020205020404" pitchFamily="49" charset="0"/>
                <a:cs typeface="Courier New" panose="02070309020205020404" pitchFamily="49" charset="0"/>
              </a:rPr>
              <a:t>for t = 1:720</a:t>
            </a:r>
          </a:p>
          <a:p>
            <a:pPr marL="0" lvl="0" indent="0">
              <a:spcBef>
                <a:spcPts val="0"/>
              </a:spcBef>
              <a:buClr>
                <a:srgbClr val="B1B1B1"/>
              </a:buClr>
              <a:buSzPct val="100000"/>
              <a:buNone/>
            </a:pPr>
            <a:r>
              <a:rPr lang="en-US" sz="1400" dirty="0">
                <a:latin typeface="Courier New" panose="02070309020205020404" pitchFamily="49" charset="0"/>
                <a:cs typeface="Courier New" panose="02070309020205020404" pitchFamily="49" charset="0"/>
              </a:rPr>
              <a:t>    view([-75+t,19])</a:t>
            </a:r>
          </a:p>
          <a:p>
            <a:pPr marL="0" lvl="0" indent="0">
              <a:spcBef>
                <a:spcPts val="0"/>
              </a:spcBef>
              <a:buClr>
                <a:srgbClr val="B1B1B1"/>
              </a:buClr>
              <a:buSzPct val="100000"/>
              <a:buNone/>
            </a:pPr>
            <a:r>
              <a:rPr lang="en-US" sz="1400" dirty="0">
                <a:latin typeface="Courier New" panose="02070309020205020404" pitchFamily="49" charset="0"/>
                <a:cs typeface="Courier New" panose="02070309020205020404" pitchFamily="49" charset="0"/>
              </a:rPr>
              <a:t>    pause(0.025)</a:t>
            </a:r>
          </a:p>
          <a:p>
            <a:pPr marL="0" lvl="0" indent="0">
              <a:spcBef>
                <a:spcPts val="0"/>
              </a:spcBef>
              <a:buClr>
                <a:srgbClr val="B1B1B1"/>
              </a:buClr>
              <a:buSzPct val="100000"/>
              <a:buNone/>
            </a:pPr>
            <a:r>
              <a:rPr lang="en-US" sz="1400" dirty="0">
                <a:latin typeface="Courier New" panose="02070309020205020404" pitchFamily="49" charset="0"/>
                <a:cs typeface="Courier New" panose="02070309020205020404" pitchFamily="49" charset="0"/>
              </a:rPr>
              <a:t>    if t == 1 | t == 181</a:t>
            </a:r>
          </a:p>
          <a:p>
            <a:pPr marL="0" lvl="0" indent="0">
              <a:spcBef>
                <a:spcPts val="0"/>
              </a:spcBef>
              <a:buClr>
                <a:srgbClr val="B1B1B1"/>
              </a:buClr>
              <a:buSzPct val="10000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camlight</a:t>
            </a:r>
            <a:endParaRPr lang="en-US" sz="1400" dirty="0">
              <a:latin typeface="Courier New" panose="02070309020205020404" pitchFamily="49" charset="0"/>
              <a:cs typeface="Courier New" panose="02070309020205020404" pitchFamily="49" charset="0"/>
            </a:endParaRPr>
          </a:p>
          <a:p>
            <a:pPr marL="0" lvl="0" indent="0">
              <a:spcBef>
                <a:spcPts val="0"/>
              </a:spcBef>
              <a:buClr>
                <a:srgbClr val="B1B1B1"/>
              </a:buClr>
              <a:buSzPct val="100000"/>
              <a:buNone/>
            </a:pPr>
            <a:r>
              <a:rPr lang="en-US" sz="1400" dirty="0">
                <a:latin typeface="Courier New" panose="02070309020205020404" pitchFamily="49" charset="0"/>
                <a:cs typeface="Courier New" panose="02070309020205020404" pitchFamily="49" charset="0"/>
              </a:rPr>
              <a:t>    end</a:t>
            </a:r>
          </a:p>
          <a:p>
            <a:pPr marL="0" lvl="0" indent="0">
              <a:spcBef>
                <a:spcPts val="0"/>
              </a:spcBef>
              <a:buClr>
                <a:srgbClr val="B1B1B1"/>
              </a:buClr>
              <a:buSzPct val="100000"/>
              <a:buNone/>
            </a:pPr>
            <a:r>
              <a:rPr lang="en-US" sz="1400" dirty="0">
                <a:latin typeface="Courier New" panose="02070309020205020404" pitchFamily="49" charset="0"/>
                <a:cs typeface="Courier New" panose="02070309020205020404" pitchFamily="49" charset="0"/>
              </a:rPr>
              <a:t>end</a:t>
            </a:r>
          </a:p>
          <a:p>
            <a:pPr marL="0" indent="0">
              <a:buClr>
                <a:srgbClr val="B1B1B1"/>
              </a:buClr>
              <a:buSzPct val="100000"/>
              <a:buFont typeface="Arial" panose="020B0604020202020204" pitchFamily="34" charset="0"/>
              <a:buNone/>
            </a:pPr>
            <a:endParaRPr lang="en-US" sz="1400" dirty="0"/>
          </a:p>
          <a:p>
            <a:pPr marL="0" indent="0">
              <a:buClr>
                <a:srgbClr val="B1B1B1"/>
              </a:buClr>
              <a:buSzPct val="100000"/>
              <a:buFont typeface="Arial" panose="020B0604020202020204" pitchFamily="34" charset="0"/>
              <a:buNone/>
            </a:pPr>
            <a:endParaRPr lang="en-US" sz="1400" dirty="0"/>
          </a:p>
          <a:p>
            <a:pPr marL="0" indent="0">
              <a:buClr>
                <a:srgbClr val="B1B1B1"/>
              </a:buClr>
              <a:buSzPct val="100000"/>
              <a:buFont typeface="Arial" panose="020B0604020202020204" pitchFamily="34" charset="0"/>
              <a:buNone/>
            </a:pPr>
            <a:r>
              <a:rPr lang="en-US" sz="1400" dirty="0"/>
              <a:t>Find a good ISOVALUE and viewing angle and include this </a:t>
            </a:r>
            <a:r>
              <a:rPr lang="en-US" sz="1400" dirty="0" err="1"/>
              <a:t>visualisation</a:t>
            </a:r>
            <a:r>
              <a:rPr lang="en-US" sz="1400" dirty="0"/>
              <a:t> in your computer lab portfolio.</a:t>
            </a:r>
          </a:p>
        </p:txBody>
      </p:sp>
    </p:spTree>
    <p:extLst>
      <p:ext uri="{BB962C8B-B14F-4D97-AF65-F5344CB8AC3E}">
        <p14:creationId xmlns:p14="http://schemas.microsoft.com/office/powerpoint/2010/main" val="1580551761"/>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Tasks for Computer lab portfolio</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p:txBody>
          <a:bodyPr>
            <a:normAutofit/>
          </a:bodyPr>
          <a:lstStyle/>
          <a:p>
            <a:pPr marL="0" lvl="0" indent="0">
              <a:buClr>
                <a:srgbClr val="B1B1B1"/>
              </a:buClr>
              <a:buSzPct val="100000"/>
              <a:buNone/>
            </a:pPr>
            <a:r>
              <a:rPr lang="en-US" sz="1800" dirty="0"/>
              <a:t>The following tasks are to be completed using R (include code and the specified </a:t>
            </a:r>
            <a:r>
              <a:rPr lang="en-US" sz="1800" dirty="0" err="1"/>
              <a:t>visualisations</a:t>
            </a:r>
            <a:r>
              <a:rPr lang="en-US" sz="1800" dirty="0"/>
              <a:t> in any standard format):</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1800" dirty="0"/>
              <a:t>A greyscale </a:t>
            </a:r>
            <a:r>
              <a:rPr lang="en-US" sz="1800" dirty="0" err="1"/>
              <a:t>visualisation</a:t>
            </a:r>
            <a:r>
              <a:rPr lang="en-US" sz="1800" dirty="0"/>
              <a:t> of the internal and external structure of the stag beetle, with a perspective from below.</a:t>
            </a:r>
          </a:p>
          <a:p>
            <a:pPr marL="0" indent="0">
              <a:lnSpc>
                <a:spcPct val="100000"/>
              </a:lnSpc>
              <a:buClr>
                <a:srgbClr val="B1B1B1"/>
              </a:buClr>
              <a:buSzPct val="100000"/>
              <a:buNone/>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1800" dirty="0"/>
              <a:t>The following tasks are to be completed using MATLAB (include code and the specified </a:t>
            </a:r>
            <a:r>
              <a:rPr lang="en-US" sz="1800" dirty="0" err="1"/>
              <a:t>visualisation</a:t>
            </a:r>
            <a:r>
              <a:rPr lang="en-US" sz="1800" dirty="0"/>
              <a:t> in any standard format):</a:t>
            </a:r>
          </a:p>
          <a:p>
            <a:pPr marL="342900" indent="-342900">
              <a:lnSpc>
                <a:spcPct val="100000"/>
              </a:lnSpc>
              <a:buClr>
                <a:srgbClr val="B1B1B1"/>
              </a:buClr>
              <a:buSzPct val="100000"/>
              <a:buFont typeface="+mj-lt"/>
              <a:buAutoNum type="arabicPeriod" startAt="2"/>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1800" dirty="0"/>
              <a:t>A </a:t>
            </a:r>
            <a:r>
              <a:rPr lang="en-US" sz="1800" dirty="0" err="1"/>
              <a:t>coloured</a:t>
            </a:r>
            <a:r>
              <a:rPr lang="en-US" sz="1800" dirty="0"/>
              <a:t> </a:t>
            </a:r>
            <a:r>
              <a:rPr lang="en-US" sz="1800" dirty="0" err="1"/>
              <a:t>isosurface</a:t>
            </a:r>
            <a:r>
              <a:rPr lang="en-US" sz="1800" dirty="0"/>
              <a:t> of the stag beetle with an appropriately chosen ISOVALUE and viewing angle that produce a clear volume </a:t>
            </a:r>
            <a:r>
              <a:rPr lang="en-US" sz="1800" dirty="0" err="1"/>
              <a:t>visualisation</a:t>
            </a:r>
            <a:r>
              <a:rPr lang="en-US" sz="1800" dirty="0"/>
              <a:t>.</a:t>
            </a:r>
          </a:p>
          <a:p>
            <a:pPr marL="342900" indent="-342900">
              <a:lnSpc>
                <a:spcPct val="100000"/>
              </a:lnSpc>
              <a:buClr>
                <a:srgbClr val="B1B1B1"/>
              </a:buClr>
              <a:buSzPct val="100000"/>
              <a:buFont typeface="+mj-lt"/>
              <a:buAutoNum type="arabicPeriod" startAt="2"/>
              <a:tabLst>
                <a:tab pos="571320" algn="l"/>
                <a:tab pos="1485719" algn="l"/>
                <a:tab pos="2400119" algn="l"/>
                <a:tab pos="3314519" algn="l"/>
                <a:tab pos="4228919" algn="l"/>
                <a:tab pos="5143320" algn="l"/>
                <a:tab pos="6057720" algn="l"/>
                <a:tab pos="6972120" algn="l"/>
                <a:tab pos="7886520" algn="l"/>
                <a:tab pos="8800920" algn="l"/>
                <a:tab pos="9715320" algn="l"/>
              </a:tabLst>
            </a:pPr>
            <a:endParaRPr lang="en-US" sz="1800" dirty="0"/>
          </a:p>
          <a:p>
            <a:pPr marL="0" indent="0">
              <a:buNone/>
            </a:pPr>
            <a:endParaRPr lang="en-US" sz="1800" dirty="0"/>
          </a:p>
          <a:p>
            <a:pPr marL="0" indent="0">
              <a:buNone/>
            </a:pPr>
            <a:endParaRPr lang="en-US" sz="1800" dirty="0"/>
          </a:p>
          <a:p>
            <a:endParaRPr lang="en-AU" dirty="0"/>
          </a:p>
        </p:txBody>
      </p:sp>
    </p:spTree>
    <p:extLst>
      <p:ext uri="{BB962C8B-B14F-4D97-AF65-F5344CB8AC3E}">
        <p14:creationId xmlns:p14="http://schemas.microsoft.com/office/powerpoint/2010/main" val="498422975"/>
      </p:ext>
    </p:extLst>
  </p:cSld>
  <p:clrMapOvr>
    <a:masterClrMapping/>
  </p:clrMapOvr>
  <p:transition spd="med">
    <p:fade/>
  </p:transition>
</p:sld>
</file>

<file path=ppt/theme/theme1.xml><?xml version="1.0" encoding="utf-8"?>
<a:theme xmlns:a="http://schemas.openxmlformats.org/drawingml/2006/main" name="QUT Theme">
  <a:themeElements>
    <a:clrScheme name="QUT Template">
      <a:dk1>
        <a:srgbClr val="000000"/>
      </a:dk1>
      <a:lt1>
        <a:sysClr val="window" lastClr="FFFFFF"/>
      </a:lt1>
      <a:dk2>
        <a:srgbClr val="00467F"/>
      </a:dk2>
      <a:lt2>
        <a:srgbClr val="E7E6E6"/>
      </a:lt2>
      <a:accent1>
        <a:srgbClr val="0070C0"/>
      </a:accent1>
      <a:accent2>
        <a:srgbClr val="00B0F0"/>
      </a:accent2>
      <a:accent3>
        <a:srgbClr val="F0CA4D"/>
      </a:accent3>
      <a:accent4>
        <a:srgbClr val="E37B40"/>
      </a:accent4>
      <a:accent5>
        <a:srgbClr val="DE5B49"/>
      </a:accent5>
      <a:accent6>
        <a:srgbClr val="00467F"/>
      </a:accent6>
      <a:hlink>
        <a:srgbClr val="00467F"/>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T - PowerPoint Template - UX Review.potx" id="{D6B15108-E6E2-4AAA-9744-58BFFF89786C}" vid="{964841F0-B2D2-4AC3-8137-6F8129DAE5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B0F88029305344B4EE7A456A7E05EA" ma:contentTypeVersion="2" ma:contentTypeDescription="Create a new document." ma:contentTypeScope="" ma:versionID="1c19968684983cf4f7e4125ace58f69a">
  <xsd:schema xmlns:xsd="http://www.w3.org/2001/XMLSchema" xmlns:xs="http://www.w3.org/2001/XMLSchema" xmlns:p="http://schemas.microsoft.com/office/2006/metadata/properties" xmlns:ns2="07ef76e7-57fb-44c7-add5-4a78842c8a06" targetNamespace="http://schemas.microsoft.com/office/2006/metadata/properties" ma:root="true" ma:fieldsID="9e469e57688a41cbf777364d878f37e2" ns2:_="">
    <xsd:import namespace="07ef76e7-57fb-44c7-add5-4a78842c8a0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ef76e7-57fb-44c7-add5-4a78842c8a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C32032-1E51-4B01-BBA5-1AD2E80CCD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ef76e7-57fb-44c7-add5-4a78842c8a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D9F0A16-D915-4611-A39C-4796DEB1FB56}">
  <ds:schemaRefs>
    <ds:schemaRef ds:uri="http://purl.org/dc/dcmitype/"/>
    <ds:schemaRef ds:uri="http://schemas.microsoft.com/office/2006/documentManagement/types"/>
    <ds:schemaRef ds:uri="http://purl.org/dc/terms/"/>
    <ds:schemaRef ds:uri="http://schemas.openxmlformats.org/package/2006/metadata/core-properties"/>
    <ds:schemaRef ds:uri="http://purl.org/dc/elements/1.1/"/>
    <ds:schemaRef ds:uri="http://www.w3.org/XML/1998/namespace"/>
    <ds:schemaRef ds:uri="http://schemas.microsoft.com/office/infopath/2007/PartnerControls"/>
    <ds:schemaRef ds:uri="07ef76e7-57fb-44c7-add5-4a78842c8a06"/>
    <ds:schemaRef ds:uri="http://schemas.microsoft.com/office/2006/metadata/properties"/>
  </ds:schemaRefs>
</ds:datastoreItem>
</file>

<file path=customXml/itemProps3.xml><?xml version="1.0" encoding="utf-8"?>
<ds:datastoreItem xmlns:ds="http://schemas.openxmlformats.org/officeDocument/2006/customXml" ds:itemID="{5D20736A-7DCA-4606-8826-26B1ADA652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QUT - PowerPoint Template</Template>
  <TotalTime>534</TotalTime>
  <Words>1034</Words>
  <Application>Microsoft Office PowerPoint</Application>
  <PresentationFormat>Widescreen</PresentationFormat>
  <Paragraphs>94</Paragraphs>
  <Slides>9</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9" baseType="lpstr">
      <vt:lpstr>Arial</vt:lpstr>
      <vt:lpstr>Calibri</vt:lpstr>
      <vt:lpstr>Courier 10 Pitch</vt:lpstr>
      <vt:lpstr>Courier New</vt:lpstr>
      <vt:lpstr>Garamond</vt:lpstr>
      <vt:lpstr>Monotype Sorts</vt:lpstr>
      <vt:lpstr>Symbol</vt:lpstr>
      <vt:lpstr>Times New Roman</vt:lpstr>
      <vt:lpstr>QUT Theme</vt:lpstr>
      <vt:lpstr>Equation</vt:lpstr>
      <vt:lpstr>Volume Visualisation 2</vt:lpstr>
      <vt:lpstr>A simple volume renderer</vt:lpstr>
      <vt:lpstr>A simple volume renderer (continued)</vt:lpstr>
      <vt:lpstr>Common Ray Traversal Blending Modes</vt:lpstr>
      <vt:lpstr>A compositing, ray casting volume render</vt:lpstr>
      <vt:lpstr>A compositing, ray casting volume render (continued)</vt:lpstr>
      <vt:lpstr>Task 1: Volume rendering (R)</vt:lpstr>
      <vt:lpstr>Task 2: More volume rendering (MATLAB)</vt:lpstr>
      <vt:lpstr>Tasks for Computer lab portfolio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Ernesto Bello</dc:creator>
  <cp:keywords/>
  <dc:description/>
  <cp:lastModifiedBy>Zach Wegert</cp:lastModifiedBy>
  <cp:revision>1</cp:revision>
  <dcterms:created xsi:type="dcterms:W3CDTF">2022-12-14T23:33:06Z</dcterms:created>
  <dcterms:modified xsi:type="dcterms:W3CDTF">2025-07-08T23:03:30Z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0x010100CCB0F88029305344B4EE7A456A7E05EA</vt:lpwstr>
  </property>
</Properties>
</file>